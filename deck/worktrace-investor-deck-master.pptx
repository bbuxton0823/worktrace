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a85fefcd3d04815" Type="http://schemas.openxmlformats.org/package/2006/relationships/metadata/core-properties" Target="docProps/core.xml"/><Relationship Id="R76dca3ff47c642c0" Type="http://schemas.openxmlformats.org/officeDocument/2006/relationships/officeDocument" Target="ppt/presentation.xml"/><Relationship Id="Rdbf371f56c80451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f43bdc251742ea"/>
  </p:sldMasterIdLst>
  <p:notesMasterIdLst>
    <p:notesMasterId xmlns:r="http://schemas.openxmlformats.org/officeDocument/2006/relationships" r:id="Rd67aa5ba57ba4356"/>
  </p:notesMasterIdLst>
  <p:sldIdLst>
    <p:sldId xmlns:r="http://schemas.openxmlformats.org/officeDocument/2006/relationships" id="256" r:id="R6d5a1f0aee164a50"/>
    <p:sldId xmlns:r="http://schemas.openxmlformats.org/officeDocument/2006/relationships" id="257" r:id="Rb1159e0214394287"/>
    <p:sldId xmlns:r="http://schemas.openxmlformats.org/officeDocument/2006/relationships" id="258" r:id="R74a66cfd1cf4421c"/>
    <p:sldId xmlns:ns0="http://schemas.openxmlformats.org/officeDocument/2006/relationships" id="274" ns0:id="rId24"/>
    <p:sldId xmlns:r="http://schemas.openxmlformats.org/officeDocument/2006/relationships" id="259" r:id="R3f0f48e0ef2c4845"/>
    <p:sldId xmlns:r="http://schemas.openxmlformats.org/officeDocument/2006/relationships" id="260" r:id="Rb0baf60b48024305"/>
    <p:sldId xmlns:r="http://schemas.openxmlformats.org/officeDocument/2006/relationships" id="261" r:id="Ra8b3ee3524484345"/>
    <p:sldId xmlns:r="http://schemas.openxmlformats.org/officeDocument/2006/relationships" id="262" r:id="Rec3949cda41d4bf6"/>
    <p:sldId xmlns:r="http://schemas.openxmlformats.org/officeDocument/2006/relationships" id="263" r:id="Rc30cba2e992d405e"/>
    <p:sldId xmlns:r="http://schemas.openxmlformats.org/officeDocument/2006/relationships" id="264" r:id="Rd88fdd3bc22b4472"/>
    <p:sldId xmlns:r="http://schemas.openxmlformats.org/officeDocument/2006/relationships" id="265" r:id="R49f5ef3fb75f4d4c"/>
    <p:sldId xmlns:r="http://schemas.openxmlformats.org/officeDocument/2006/relationships" id="266" r:id="R615ab4d47c924359"/>
    <p:sldId xmlns:r="http://schemas.openxmlformats.org/officeDocument/2006/relationships" id="267" r:id="Re704d4f8c7e84139"/>
    <p:sldId xmlns:r="http://schemas.openxmlformats.org/officeDocument/2006/relationships" id="268" r:id="R68fbcc7784624cee"/>
    <p:sldId xmlns:r="http://schemas.openxmlformats.org/officeDocument/2006/relationships" id="269" r:id="Rba616a1b72c04c87"/>
    <p:sldId xmlns:r="http://schemas.openxmlformats.org/officeDocument/2006/relationships" id="270" r:id="R6147574e4c3f4fcc"/>
    <p:sldId xmlns:r="http://schemas.openxmlformats.org/officeDocument/2006/relationships" id="271" r:id="R12142f809df541a3"/>
    <p:sldId xmlns:r="http://schemas.openxmlformats.org/officeDocument/2006/relationships" id="272" r:id="R19262473b4464a1c"/>
    <p:sldId xmlns:r="http://schemas.openxmlformats.org/officeDocument/2006/relationships" id="273" r:id="R8f588f9c152645c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2142f809df541a3" Type="http://schemas.openxmlformats.org/officeDocument/2006/relationships/slide" Target="slides/slide16.xml"/><Relationship Id="R19262473b4464a1c" Type="http://schemas.openxmlformats.org/officeDocument/2006/relationships/slide" Target="slides/slide17.xml"/><Relationship Id="R28d72e7e4dbf4742" Type="http://schemas.openxmlformats.org/officeDocument/2006/relationships/theme" Target="theme/theme1.xml"/><Relationship Id="R357a1e843bbd44b3" Type="http://schemas.openxmlformats.org/officeDocument/2006/relationships/presProps" Target="presProps.xml"/><Relationship Id="R3f0f48e0ef2c4845" Type="http://schemas.openxmlformats.org/officeDocument/2006/relationships/slide" Target="slides/slide4.xml"/><Relationship Id="R49f5ef3fb75f4d4c" Type="http://schemas.openxmlformats.org/officeDocument/2006/relationships/slide" Target="slides/slide10.xml"/><Relationship Id="R6147574e4c3f4fcc" Type="http://schemas.openxmlformats.org/officeDocument/2006/relationships/slide" Target="slides/slide15.xml"/><Relationship Id="R615ab4d47c924359" Type="http://schemas.openxmlformats.org/officeDocument/2006/relationships/slide" Target="slides/slide11.xml"/><Relationship Id="R68fbcc7784624cee" Type="http://schemas.openxmlformats.org/officeDocument/2006/relationships/slide" Target="slides/slide13.xml"/><Relationship Id="R6d5a1f0aee164a50" Type="http://schemas.openxmlformats.org/officeDocument/2006/relationships/slide" Target="slides/slide1.xml"/><Relationship Id="R74a66cfd1cf4421c" Type="http://schemas.openxmlformats.org/officeDocument/2006/relationships/slide" Target="slides/slide3.xml"/><Relationship Id="R8f588f9c152645c3" Type="http://schemas.openxmlformats.org/officeDocument/2006/relationships/slide" Target="slides/slide18.xml"/><Relationship Id="R98f43bdc251742ea" Type="http://schemas.openxmlformats.org/officeDocument/2006/relationships/slideMaster" Target="slideMasters/slideMaster1.xml"/><Relationship Id="Ra8b3ee3524484345" Type="http://schemas.openxmlformats.org/officeDocument/2006/relationships/slide" Target="slides/slide6.xml"/><Relationship Id="Rb0baf60b48024305" Type="http://schemas.openxmlformats.org/officeDocument/2006/relationships/slide" Target="slides/slide5.xml"/><Relationship Id="Rb1159e0214394287" Type="http://schemas.openxmlformats.org/officeDocument/2006/relationships/slide" Target="slides/slide2.xml"/><Relationship Id="Rb30962ca0ab8429a" Type="http://schemas.openxmlformats.org/officeDocument/2006/relationships/tableStyles" Target="tableStyles.xml"/><Relationship Id="Rba616a1b72c04c87" Type="http://schemas.openxmlformats.org/officeDocument/2006/relationships/slide" Target="slides/slide14.xml"/><Relationship Id="Rc30cba2e992d405e" Type="http://schemas.openxmlformats.org/officeDocument/2006/relationships/slide" Target="slides/slide8.xml"/><Relationship Id="Rd67aa5ba57ba4356" Type="http://schemas.openxmlformats.org/officeDocument/2006/relationships/notesMaster" Target="notesMasters/notesMaster1.xml"/><Relationship Id="Rd88fdd3bc22b4472" Type="http://schemas.openxmlformats.org/officeDocument/2006/relationships/slide" Target="slides/slide9.xml"/><Relationship Id="Re704d4f8c7e84139" Type="http://schemas.openxmlformats.org/officeDocument/2006/relationships/slide" Target="slides/slide12.xml"/><Relationship Id="Rec3949cda41d4bf6" Type="http://schemas.openxmlformats.org/officeDocument/2006/relationships/slide" Target="slides/slide7.xml"/><Relationship Id="rId24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64021af399c94d62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a95bb204313d4e7a" Type="http://schemas.openxmlformats.org/officeDocument/2006/relationships/slide" Target="../slides/slide1.xml"/><Relationship Id="Rae5e08e6cdec4903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224e5461ec4247f3" Type="http://schemas.openxmlformats.org/officeDocument/2006/relationships/notesMaster" Target="../notesMasters/notesMaster1.xml"/><Relationship Id="R2e8327dcbb0a4910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8a6057de8b604b01" Type="http://schemas.openxmlformats.org/officeDocument/2006/relationships/slide" Target="../slides/slide3.xml"/><Relationship Id="Rf070270e26374895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262bc77daae949b0" Type="http://schemas.openxmlformats.org/officeDocument/2006/relationships/notesMaster" Target="../notesMasters/notesMaster1.xml"/><Relationship Id="R7c8840b1b4294b0a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16e342d8bffe42df" Type="http://schemas.openxmlformats.org/officeDocument/2006/relationships/notesMaster" Target="../notesMasters/notesMaster1.xml"/><Relationship Id="R23030d66a4a34c68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8d250e390a664cc8" Type="http://schemas.openxmlformats.org/officeDocument/2006/relationships/notesMaster" Target="../notesMasters/notesMaster1.xml"/><Relationship Id="Rb562464de8d2430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49be39771f384114" Type="http://schemas.openxmlformats.org/officeDocument/2006/relationships/slide" Target="../slides/slide7.xml"/><Relationship Id="Rc67de8a795c344c4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73a340b9f44d4628" Type="http://schemas.openxmlformats.org/officeDocument/2006/relationships/notesMaster" Target="../notesMasters/notesMaster1.xml"/><Relationship Id="Rd00069a4446f4f4f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672a2da0c1084580" Type="http://schemas.openxmlformats.org/officeDocument/2006/relationships/slide" Target="../slides/slide9.xml"/><Relationship Id="Re09ec6db466e4bb3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0185f47ec6594671" Type="http://schemas.openxmlformats.org/officeDocument/2006/relationships/slide" Target="../slides/slide10.xml"/><Relationship Id="R1af92a7d2f22400e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64c93a9585d54654" Type="http://schemas.openxmlformats.org/officeDocument/2006/relationships/notesMaster" Target="../notesMasters/notesMaster1.xml"/><Relationship Id="R81cda3c1e0d448ad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6a9fb7bef0994fc6" Type="http://schemas.openxmlformats.org/officeDocument/2006/relationships/notesMaster" Target="../notesMasters/notesMaster1.xml"/><Relationship Id="Rf2100ddaa6d747c6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355e87791b8847a8" Type="http://schemas.openxmlformats.org/officeDocument/2006/relationships/slide" Target="../slides/slide13.xml"/><Relationship Id="R895f6d37178b460c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3eb85de3cd4643ac" Type="http://schemas.openxmlformats.org/officeDocument/2006/relationships/notesMaster" Target="../notesMasters/notesMaster1.xml"/><Relationship Id="R3f9c4a22d5e142ce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75c1d9634a82468b" Type="http://schemas.openxmlformats.org/officeDocument/2006/relationships/slide" Target="../slides/slide15.xml"/><Relationship Id="R91595135bd174cc4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c6a97c73edcb4f53" Type="http://schemas.openxmlformats.org/officeDocument/2006/relationships/slide" Target="../slides/slide16.xml"/><Relationship Id="Rec7ed7f0c6f646b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0a8c7b19565e4e44" Type="http://schemas.openxmlformats.org/officeDocument/2006/relationships/notesMaster" Target="../notesMasters/notesMaster1.xml"/><Relationship Id="Ra0b73e9e68a54921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73fffe4f43854871" Type="http://schemas.openxmlformats.org/officeDocument/2006/relationships/notesMaster" Target="../notesMasters/notesMaster1.xml"/><Relationship Id="R91e51aa32d8047b6" Type="http://schemas.openxmlformats.org/officeDocument/2006/relationships/slide" Target="../slides/slide18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598cbaf89d144f4f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7d5438ef84ab4e5e" Type="http://schemas.openxmlformats.org/officeDocument/2006/relationships/theme" Target="theme/theme2.xml"/><Relationship Id="Ra0ef42d5cf0346b3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ef42d5cf0346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a03b27a94984d73" Type="http://schemas.openxmlformats.org/officeDocument/2006/relationships/image" Target="../media/image.png"/><Relationship Id="Rbcc0d44ea72b4d32" Type="http://schemas.openxmlformats.org/officeDocument/2006/relationships/slideLayout" Target="../slideLayouts/slideLayout1.xml"/><Relationship Id="Rc56cd247635f4d00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5578e12420e84d6f" Type="http://schemas.openxmlformats.org/officeDocument/2006/relationships/slideLayout" Target="../slideLayouts/slideLayout1.xml"/><Relationship Id="Rc51b38019dcc4d3e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91f4c3097af747e2" Type="http://schemas.openxmlformats.org/officeDocument/2006/relationships/notesSlide" Target="../notesSlides/notesSlide3.xml"/><Relationship Id="Rd0f2c7f599f949cd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13bb725f53ce4dfc" Type="http://schemas.openxmlformats.org/officeDocument/2006/relationships/slideLayout" Target="../slideLayouts/slideLayout1.xml"/><Relationship Id="R58f3586f81094e9a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3efd676420e742e8" Type="http://schemas.openxmlformats.org/officeDocument/2006/relationships/notesSlide" Target="../notesSlides/notesSlide5.xml"/><Relationship Id="Rb5997cbd011b4aaf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3c7a9507536a4190" Type="http://schemas.openxmlformats.org/officeDocument/2006/relationships/slideLayout" Target="../slideLayouts/slideLayout1.xml"/><Relationship Id="Rd8353dcd10bb4a8a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03f834de99624354" Type="http://schemas.openxmlformats.org/officeDocument/2006/relationships/slideLayout" Target="../slideLayouts/slideLayout1.xml"/><Relationship Id="R54d801e2603a4b8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26f70d18a2284109" Type="http://schemas.openxmlformats.org/officeDocument/2006/relationships/slideLayout" Target="../slideLayouts/slideLayout1.xml"/><Relationship Id="Re8a7723e17b7404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0c582937762d4ed7" Type="http://schemas.openxmlformats.org/officeDocument/2006/relationships/notesSlide" Target="../notesSlides/notesSlide9.xml"/><Relationship Id="R35aa61babb6944d9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381967ab88fd49ce" Type="http://schemas.openxmlformats.org/officeDocument/2006/relationships/notesSlide" Target="../notesSlides/notesSlide10.xml"/><Relationship Id="R5b1ae7a294ae4e56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7194e12a723046f1" Type="http://schemas.openxmlformats.org/officeDocument/2006/relationships/notesSlide" Target="../notesSlides/notesSlide11.xml"/><Relationship Id="R787eb1b991714c75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3586fc8ccef94f84" Type="http://schemas.openxmlformats.org/officeDocument/2006/relationships/notesSlide" Target="../notesSlides/notesSlide12.xml"/><Relationship Id="R82cf6272f89e41b9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13ebee337df44bf1" Type="http://schemas.openxmlformats.org/officeDocument/2006/relationships/slideLayout" Target="../slideLayouts/slideLayout1.xml"/><Relationship Id="R5e8e1bc45cd94ca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7e8c9cdfbab54270" Type="http://schemas.openxmlformats.org/officeDocument/2006/relationships/slideLayout" Target="../slideLayouts/slideLayout1.xml"/><Relationship Id="Re17f9abe356b4d46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29e44797480d480d" Type="http://schemas.openxmlformats.org/officeDocument/2006/relationships/slideLayout" Target="../slideLayouts/slideLayout1.xml"/><Relationship Id="R424dd91c47ff4ef1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b07c03c4e0ca424c" Type="http://schemas.openxmlformats.org/officeDocument/2006/relationships/slideLayout" Target="../slideLayouts/slideLayout1.xml"/><Relationship Id="Rc7830e4d6b694ffc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04a104ba0b8a4aff" Type="http://schemas.openxmlformats.org/officeDocument/2006/relationships/notesSlide" Target="../notesSlides/notesSlide17.xml"/><Relationship Id="Rfce1ee60568f46bf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11741be28773474f" Type="http://schemas.openxmlformats.org/officeDocument/2006/relationships/hyperlink" Target="https://mospi.gov.in/uploads/publications_reports/publications_reports1780040415321_0624fb13-fb47-40bc-b470-7c7e9635c3ef_PLFS_2025_F_REV_29052026.pdf" TargetMode="External"/><Relationship Id="R136bf17e1b414029" Type="http://schemas.openxmlformats.org/officeDocument/2006/relationships/hyperlink" Target="https://www.movodata.com/" TargetMode="External"/><Relationship Id="R22206b61d2fc4ad2" Type="http://schemas.openxmlformats.org/officeDocument/2006/relationships/hyperlink" Target="https://ifr.org/img/worldrobotics/Executive_Summary_WR_2025_Service_Robots.pdf" TargetMode="External"/><Relationship Id="R39206ac785ab441a" Type="http://schemas.openxmlformats.org/officeDocument/2006/relationships/hyperlink" Target="https://moha.gov.vn/tin-tuc/tang-luong-toi-thieu-vung-tu-ngay-01012026---oid57756" TargetMode="External"/><Relationship Id="R41b9ecc3251d4ec9" Type="http://schemas.openxmlformats.org/officeDocument/2006/relationships/hyperlink" Target="https://deepmind.google/blog/scaling-up-learning-across-many-different-robot-types/" TargetMode="External"/><Relationship Id="R46497697af2f48d0" Type="http://schemas.openxmlformats.org/officeDocument/2006/relationships/hyperlink" Target="https://www.diputados.gob.mx/LeyesBiblio/pdf/LFPDPPP.pdf" TargetMode="External"/><Relationship Id="R4f58dcb75fdc4971" Type="http://schemas.openxmlformats.org/officeDocument/2006/relationships/slideLayout" Target="../slideLayouts/slideLayout1.xml"/><Relationship Id="R5505aa58da514f0a" Type="http://schemas.openxmlformats.org/officeDocument/2006/relationships/notesSlide" Target="../notesSlides/notesSlide18.xml"/><Relationship Id="R7ce5feca26da4003" Type="http://schemas.openxmlformats.org/officeDocument/2006/relationships/hyperlink" Target="https://nwpc.dole.gov.ph/ncr/" TargetMode="External"/><Relationship Id="R984040d031d94f7e" Type="http://schemas.openxmlformats.org/officeDocument/2006/relationships/hyperlink" Target="https://privacy.gov.ph/national-privacy-commission-issues-guidelines-on-the-processing-of-personal-data-collected-using-body-worn-cameras/" TargetMode="External"/><Relationship Id="Ra3bd252c504843cd" Type="http://schemas.openxmlformats.org/officeDocument/2006/relationships/hyperlink" Target="https://www.presidencia.gov.co/prensa/Paginas/Salario-vital-2-000-000-a-partir-de-enero-de-2026-251230.aspx" TargetMode="External"/><Relationship Id="Raf613295afc0453c" Type="http://schemas.openxmlformats.org/officeDocument/2006/relationships/hyperlink" Target="https://www.oecd.org/en/publications/2025/06/introducing-the-oecd-ai-capability-indicators_7c0731f0/full-report/component-6.html" TargetMode="External"/><Relationship Id="Rb0c0911890534bde" Type="http://schemas.openxmlformats.org/officeDocument/2006/relationships/hyperlink" Target="https://www.dof.gob.mx/indicadores.php" TargetMode="External"/><Relationship Id="Rc5c3cfea9f9d47f6" Type="http://schemas.openxmlformats.org/officeDocument/2006/relationships/hyperlink" Target="https://www.datos.gov.co/resource/32sa-8pi3.json?$limit=5&amp;$order=vigenciadesde%20DESC" TargetMode="External"/><Relationship Id="Rc60eb853c43e4ccd" Type="http://schemas.openxmlformats.org/officeDocument/2006/relationships/hyperlink" Target="https://developer.nvidia.com/blog/develop-humanoid-robot-policies-end-to-end-with-nvidia-isaac-groot/" TargetMode="External"/><Relationship Id="Rc9178b897fb04f9d" Type="http://schemas.openxmlformats.org/officeDocument/2006/relationships/hyperlink" Target="https://psdn.ai/blog/introducing-poseidon" TargetMode="External"/><Relationship Id="Rdfc34279afc34b8c" Type="http://schemas.openxmlformats.org/officeDocument/2006/relationships/hyperlink" Target="https://www.capgemini.com/news/press-releases/two-thirds-of-organizations-rate-physical-ai-as-a-high-priority-for-the-next-three-to-five-years/" TargetMode="External"/><Relationship Id="Re1905949d0e840f9" Type="http://schemas.openxmlformats.org/officeDocument/2006/relationships/hyperlink" Target="https://ifr.org/img/worldrobotics/Executive_Summary_WR_2025_Industrial_Robots.pdf" TargetMode="External"/><Relationship Id="Re4ae09d2c2ab406b" Type="http://schemas.openxmlformats.org/officeDocument/2006/relationships/hyperlink" Target="https://ifr.org/downloads/press_docs/2026_06_24_IFR_Executive_Roundtable_market_presentation.pdf" TargetMode="External"/><Relationship Id="Rf4570ba694814f60" Type="http://schemas.openxmlformats.org/officeDocument/2006/relationships/hyperlink" Target="https://www.gob.mx/stps/prensa/entra-el-vigor-el-incremento-del-13-al-salario-minimo-general?idiom=es-MX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03b27a94984d73"/>
          <a:srcRect xmlns:a="http://schemas.openxmlformats.org/drawingml/2006/main" l="3295" t="0" r="32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5CB807-C80E-406D-A516-D5D2497F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62650"/>
            <a:ext cx="12192000" cy="895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71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A239EF-3FB7-4FAE-B48D-C807A681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rPr>
              <a:t>INVESTOR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FD2A99-DF42-4ED4-99DA-24FC0DD6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24575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Rights-cleared physical work data for robotics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229818-A859-44CC-AFB4-3C282F78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7220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JULY 2026</a:t>
            </a:r>
          </a:p>
        </p:txBody>
      </p:sp>
    </p:spTree>
    <p:extLst>
      <p:ext uri="{BB962C8B-B14F-4D97-AF65-F5344CB8AC3E}">
        <p14:creationId xmlns:p14="http://schemas.microsoft.com/office/powerpoint/2010/main" val="19344067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379B18D6-F950-4E1A-96A7-5A6B05F0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521C63-613F-4C48-8DBD-D4401E7C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8E163B-B07B-49B5-9F38-79199184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288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0779F-68F1-4FF7-A2EE-DBD4CDD6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289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AF1F10-E90D-4AAC-8FA0-BAE5B568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843B8E-53F8-4B63-86EE-2A44508C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477D1E-E03F-4BA7-8EFD-8730F291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8959D2-A55F-460E-BC6B-C955D369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291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EAAB1C-9976-43A4-BBBC-B1C46206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722A91-6980-415D-971B-432D9CA5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380B72-9BEC-40F6-9DDD-746414D8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CC2A7E-E56E-4402-915E-4B28E00F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293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88A234-BCB0-45E7-BFAB-01A5651F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287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9344B1-F838-4383-A24D-70955305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288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37F22C-E604-4695-A290-375FCE55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288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9895CA-2D27-48EA-A9F5-49D7AF10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289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11AFCB-A78D-4C19-B3F7-D9083F11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0743AF-0BE6-4CAC-8A2E-01AFD095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B5E7DA-176A-408E-AF80-88DD4733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290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9FF182-A5BE-407B-AA48-C37D38DF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291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CA80F8-095A-49F4-91FA-B07E4105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291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20B76B-15CF-4897-B903-4620DBD6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317AE6-0C58-4C69-A32F-4F8AB727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674DC9-F35E-45DE-8D4A-F848CCD1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293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E40E84-6528-4598-9357-BC5A2DD7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287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B12E0D-2CF3-4395-9B9F-19D776D6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288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9EF611-B3C2-484C-9DDF-0E9AB5CF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288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B9B31E-8EA4-4E82-83BF-3D12567B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289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BEB9FB-ADFF-4741-907C-9672AAF8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289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559093-9659-4572-8B6F-79EDB15D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290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6924B0-FACC-4FC2-83C7-5D3A3A98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290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361254-8F38-41D9-9D14-93C3783C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291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B8DF70-CFA2-4B2E-8FAE-4020699B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291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AF5A06-DD39-4B77-BF39-64D6AF80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292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580E0B-56F7-4225-B71F-9246A7C6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292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6DBF39-C882-4500-915D-DC5F0656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8293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B42F89-5ECC-467B-BBF4-97B73EF3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4287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7C4BD15-A68D-408B-9156-6E5392CF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8288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4DEF80-80CE-4182-9C00-77E3B843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2288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10244D-44C6-4E8A-BF32-E527A0FC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6289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844818B-405F-4C57-A7B7-813941CF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0289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23FF93-A07F-4AA6-B32C-99740438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4290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11AE486-CD44-48DA-BAB1-D06F9759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8290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2C47C9D-AB37-44D7-9A53-24595ED3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2291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43D7741-19F1-43A5-8D92-8A395C1F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6291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92EF8E5-4AF8-4A3C-AB0E-59A7DD58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0292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08EF050-9650-4AAB-9E47-0A109B48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4292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DBA0012-41C4-4FD7-9088-5F7F3F07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8293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24EB996-E3AF-44FE-BC6A-F4BE29DA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4287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346A76A-CA7D-4801-8778-21E5406D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8288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A5E02B6-4CFD-459B-841B-612C2865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288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ECAD7FF-86A6-45E8-92C6-E120EC57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289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0DF7829-E1B8-48F4-B406-858DC5DE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0289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99F5BDD-C7BC-400B-A961-D17C58C1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4290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AFB04B2-E7AF-406C-ADB6-C1BBEAD3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8290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D764E49-F72D-4719-A469-6A295B51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291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5914424-A992-4EE0-875C-B33696AC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6291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3D9F53E-C5D2-4337-BA6B-39DA63C2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0292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F542851-F2F6-4B82-83A1-E1D63D39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4292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BF995A6-E186-4D46-8D3B-E7A4CD3B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8293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ECBA117-ED3F-466C-9BA1-56B3CF2C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4287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5F97D8C-820A-469E-9B5A-5F0035CC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8288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4FDCDA9-928C-4565-B7F3-E04F8E20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2288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48DBFC2-1F74-45FA-8BC3-23CAF882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6289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6426EB6-E6F9-4208-ACEA-FD6A26D4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289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730AA90-65A5-4240-9D50-7793A05A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4290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4B6A2EF-4140-428B-8801-D026F5E0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290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DF7D9F2-8638-4D0F-8C49-9E49D628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2291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2D05417-8111-4F9A-8CB5-88E28673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6291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981108A-F56B-478E-8E6F-770C94E2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0292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43B4EB4-5CD9-4B6C-8E42-E3C611D4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4292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D7CF256-6CA2-4933-B63C-5BD2FC58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8293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B4D3ABA-056D-4DC1-B9C4-C936E1EB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4287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57F136A-306D-4CA2-BFE0-9A6360A4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288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415018E-E054-4B36-97FA-3F134B25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288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2997EA8-12C8-4268-BFB6-19D19DC7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289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940A684-07F4-42FD-BAAB-0413757B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289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7A70499-0B43-4135-99C1-11DC56B6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290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E2968ED-7CF1-40EF-B4C1-6E1A2B73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290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F61646E-F0B4-4C40-80FD-936109A8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291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25470C9-03D4-407C-99D2-DC263625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291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85B3211-1D64-4A83-A9ED-736A9774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292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BE5A8E8-55F9-4A57-98B9-E7DB5374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4292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E459685-08D4-4FE4-8FA4-D1CB4EEC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293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87AAC8F-60AF-4976-BDAC-91F2DD5A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4287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91B917E-8ED9-4278-9608-3A7858F3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288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F4D096F-45FD-4ED9-80EF-1850F155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288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5E20965-308E-467B-9969-3BFE639C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289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5E2AE29-3C20-4DE3-B23B-26558473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289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1B2DDB0-E864-43DB-B205-92733B96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4290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B487A48-6FA3-4EEB-A2D1-E2B9EA70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290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BAE5F47-508D-4FA7-A3EA-F2499F98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291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BE4BDAC-3B8B-4FEC-B780-0EA211DD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6291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580F954-BEC6-48C9-884F-914EFA9D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0292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C782240-AB39-4595-89BD-DAEF99A9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4292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55D06C2-C629-4BB7-95B9-A849179F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8293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D7AA98A-8AFF-494F-BE6A-D2AD4613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4287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96783A6-F994-40DB-998E-F4F9D009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8288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F7819FC-B6AD-4591-849B-8AEFFD6A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288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3861772-6620-4CA1-B277-6594A27D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289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CC29606-EF64-47A9-B688-3E87DFE0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289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16FCDD2-2011-44AF-B9B2-0F438C5E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290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6F6CB78-6E6B-4C2B-80E7-5B1D36AD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8290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B8807A0-6EE3-416C-9580-D6CADD5B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2291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A25D174-BDA9-4794-9377-3A762CB6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6291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A718A19-E317-4F5F-A728-796EE16F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0292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ACC094D-6C08-44C4-8DDB-7F7C6223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4292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57AFEC3-E2F7-4CB3-8B4E-92E5FBDF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8293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CD97DF4-91C3-4C96-B26F-62F5534A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4287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21520AC-D715-4B41-B0B3-4E106140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288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1CA9C56-829D-4E05-9849-E9FD6411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288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CE04465-9A5C-4175-BE9A-C61DD7F1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289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ADB75D7-5BC4-4B11-9187-FABEC9FF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289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816B608-8C29-430E-AAE1-36C6704D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290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FF157ED-543F-4CAC-872B-47C2C368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290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8EF3C42-E489-4E31-90CD-801E7728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2291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BA46D70-8C85-46D5-8B58-2DC0B1CD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6291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8D6A02CF-C6BC-4478-87D0-DF3F7B60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0292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F9F51B0-C31F-4349-AB24-B688DC6B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4292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44B7845-0C78-46BE-9307-FF89B6CC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8293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618E9E7-DE13-42D6-A60D-B1C8AFD2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4287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A4D5F1A-A720-4C99-94D1-A2AFB871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288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0917728-93AF-423C-AC0B-A95CD259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288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4AEBADA-A0DE-4CBE-AAA3-8D92DA3F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289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1290E2E-1D90-4CCE-B5BF-EA74DE66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289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2CE4D43-BBD7-4616-A35F-53FC9C30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290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1040C29-C87E-48D8-86C3-CD822614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290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EA593EC-4ED4-40B2-A40C-FB3917A2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291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791F32E-2ADB-469D-8B62-3DFB6964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291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4E09C71-C866-4B60-BF5E-89E0F1C0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0292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932D2A8-B469-46A3-8205-C8C1B0CB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4292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66A7DAF-514C-4C88-9520-F6CE3801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8293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E364EB86-507E-4BA4-A85D-00D4C2F4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287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F1660F4-A098-42E2-8CC4-FE527A92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288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3306C274-93D2-465C-A80B-839CAF09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288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B64A6F7-04E1-40AB-87B8-91CD5CDB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289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3117F43A-9523-40EA-BCE1-4A565AE4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289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938F345-CF7C-49A8-8FEB-89EBEAE1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290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4539658B-3318-45F4-9B80-F7D84C11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290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7910ED68-985B-448C-BA44-3EEF48EE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291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B15FD1C8-AC92-4937-81ED-86864DCB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291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AC9100F2-7B13-463C-8E4D-C395DFBD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0292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1A1F99EE-0CF9-40A6-8ECF-99741351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4292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8E02EBA8-7557-4D93-8F0D-88DF3062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8293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8CDAE444-0BF2-426F-B8BE-4AD4CAD4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4287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9E95798E-B360-4F7D-B3CA-0996E48D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8288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4647A6FF-AB9B-47BC-BAC9-18CD1B3D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2288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ACA606F3-02BB-4D14-AF78-BAE8F442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6289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6476C6F3-486E-4825-8C24-C0DC7FE8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289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E23696AA-AA2A-4AB9-8165-68D3F145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290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96B6A7EA-E4A2-4434-A414-71C8A04E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8290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633AA68-B428-45D7-BEF2-9C5A0401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2291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C65AB45F-DAB7-4ED1-B65A-913420CD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6291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3A473839-BBF8-48F8-B0A2-BE46C614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0292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C30EF869-6DA0-4B32-96CA-FF161246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4292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9DEFDFA7-C3AF-4CFD-8F4C-00D92D49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8293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2CEC53B5-19D0-4CA1-AF3F-0BFDACF5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4287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3BEB7E8E-27EE-4662-A8B3-C7C2EE5D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8288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71D747EC-DD29-4138-896B-D5576FEB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288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BAAC606C-2171-4A59-B9E9-321125F1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6289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B95853D8-ED54-4108-911C-FA65DD36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0289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7F2C8B37-D51B-4562-85BD-4D6BFB53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290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5DE83DE2-F56A-4A57-ADBD-5F093BB8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8290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CE4A9E69-2D35-4BB8-B0A5-3406260D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2291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84909B70-3569-4208-BA3F-63FD5A65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6291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B6BCCDEC-8C06-4209-A75F-4D00AAB9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0292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7E6D1EB7-7EB9-42EA-AD68-76C7E8D7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4292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3A92D30B-8FA8-4DC9-A731-1B2CF2EC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8293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2552FBFB-E613-43D5-8C59-8E218AA8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287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90DB19CB-1333-47E7-AB0D-48F49C8A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288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DD4566EE-D912-497C-96DD-A41988E6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288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4CDF61A6-9730-4AB7-B429-902A8340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289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EDBE0CE6-40D6-454F-A318-8DC1AA78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289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DFB76035-2889-4FD8-96AA-CAC46E77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290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35766EE4-37D6-462C-B188-ADB2E468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290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C5D35FB6-2D9A-4EAE-BC8C-D60D38F0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291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A349AA84-0AB9-4629-8A2A-63806FD5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291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B9E2D3B2-F782-406F-92C1-96A4B5BA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292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DDD54B90-A488-4FD4-85F8-5C8A654D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4292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37E5119D-AA3E-4E94-9595-A6F347C4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8293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8775EB6D-0A97-40D7-AA56-DCE27763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4287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60352635-18BA-4E98-8549-C332D00D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288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AE50542E-E8AA-4C4F-8DC5-29E442F1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288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73825ABB-F3A0-4DC3-9BA7-1376FA19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289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2859C968-12C7-4FDF-B6A4-459ADB33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289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69686E4C-BF75-4CC5-999B-56A7C93A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290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E8648737-B264-43DC-AC0F-1FE5EE2D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290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97CF050A-D56D-49CB-B542-16E0C2C6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291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BA6026D0-A153-4397-80C2-328F5BDD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368A6A00-8587-44B9-AB84-CD970A56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0292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DBDBFCC1-FA75-41AF-9FDA-847C0156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292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01439CCF-4C96-4DE6-BAC1-F80D039C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8293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487F24EE-BEF9-4D95-9BB7-EDF356D6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287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410D9B29-CFAA-4B82-B6BA-415814E4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288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62C78FC7-6E4D-48B6-9034-89F4C3EE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288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8858B86A-14DE-4AF8-9086-6DE2A749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289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4607AEE0-CBF0-4802-A575-77469125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289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EF0D94C8-9C63-4C16-8642-1714DEC4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290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682F6A22-F530-4466-B8CE-66B1FF35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290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02BFC42F-6506-4E88-A62D-C4D7609E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291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D83317E0-A401-47BE-BE10-18605E67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291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BC2ED9E9-27AB-4A1D-BDD3-3DAAA178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0292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DC1F1494-0CBF-48B0-9493-016962A6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4292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31AF2E56-EC3C-4F91-80BD-6B4032D1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8293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70572E09-9E3B-44C2-9F1D-5A2C71ED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4287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A71771CE-F487-437B-8831-5EDE2A4F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8288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FBE7BB8C-368B-4DCF-934A-00448647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288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6562F168-39CF-44CB-82C3-A0224E45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289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EBF780F6-3952-4228-AF52-7C2DEA3D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289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0CC4565D-70E0-4ED6-9E4E-D4A3AD1A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290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4CD40D4E-7C71-4CC3-ABB6-60F1F76B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290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9D34DFCD-EE04-4794-93B6-DE93C0D3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2291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65B77419-63FC-477B-951F-8E28DFF9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6291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B650C89D-469C-47F1-BD54-BBEA12BD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0292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8C883B65-DB53-4313-8B13-31A2FAFA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4292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B3F4FFFC-6BB8-4662-A629-B1F4BBCE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293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369D3C69-01FC-4C5D-83DB-142A204F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287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5284AF52-86FC-4C8A-8D7A-8A89ADD7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288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713D83F1-B96C-4456-87F7-BBA4228F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288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4E0D3900-CBE3-4C08-A156-D1FD78ED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289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A5D9CD4E-2125-485D-8B0E-B75B5032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289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FD178603-94E9-46F8-B93D-4AB59F6E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290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80C94773-346C-4407-8074-8AA8E498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290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04A0FFCE-89B9-4FA1-90A5-A98A3A6A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291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882C5825-AE85-461A-8D21-1DE05F9D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291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3A5F051C-64E6-4A37-852B-05BE9C04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292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ECF519D5-B6BF-44D9-A9EB-10BF941F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4292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628E4634-6F93-4D56-B10D-101EF2E5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8293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5D91E195-4E6C-4AF2-ABEE-7C96B08B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287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438FC7C3-6ED7-4653-B1D8-293C62BF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288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EAC722C4-94D7-4365-B8F7-367336A5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288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60A4DEB1-5C45-4BC5-A5FC-A3F6737C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289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75C0AF12-4B00-4279-9614-7E69308A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289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EC1FFB2D-8C6F-476C-B9CE-EA8EB292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290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A8A99258-84CF-4927-BD9F-E5AC2FA3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D75EAFB7-06D7-4246-9371-789C6454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291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ADD3B4F9-7098-4E76-81F7-3DDE8F51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291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13B56C1F-257E-41A6-BF0A-1E25A3A8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292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1FF2F42F-C3A5-4F8E-8ABD-2947ACA4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4292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B696CEB9-F794-4DBE-A7F7-6A744CD2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8293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0EF75E20-0AD7-45E4-9E65-8880AB4C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4287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C826EB3E-72A8-4F9C-B6CA-4E222A51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8288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782C8E80-A8C1-44F5-8541-68462801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288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01E28BA5-E628-427B-A104-D31EFDD7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289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2F59C04E-3A70-4B22-A7CC-7919CC0F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289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16960A17-4386-4CFC-8A78-A1B90092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290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6B6FA81B-3F0B-4655-927D-A70ACB32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290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61559D31-1B8D-4BED-9253-BD6C462D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291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E9990B16-A9F0-4343-B782-F81663F1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291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131E575C-16C4-45A3-8C3D-A2B3D386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0292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14A49422-AADC-4D66-8889-85D9E5F1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4292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6752A4D7-D45E-41BE-AB48-20B34673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8293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8FF34C7F-C2A2-4078-8459-48BB6274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287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2B8A504B-4A81-42FA-B2B2-87B05E63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288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07727ACF-A4EE-4ACA-8BBA-2CAA110F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288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D3215D2D-83D2-493D-A1FC-96FD5A63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289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A33C4FD1-CBC1-40D7-B6EA-52EFD0F9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289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20B7DDC3-0CF0-40AE-B3BD-6C890FA6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290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A976D0EE-A9C3-4C7B-B668-596FD6D2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290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9F501EBF-2EEB-4295-B637-8B973B0F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291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5EEEA140-8222-4EBE-B6DA-6CF40B3B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291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261092FF-DA4F-434C-BFB7-37E67903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292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6836E3BA-E1A5-413D-AE22-068A4013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4292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43220FD6-100D-40EE-9440-FB9FDCCF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8293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1B9072F0-6515-4D03-A907-9C6CC879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4287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8A277F1A-3AC3-4A41-B55E-68038720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288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5D9E02BB-49D1-4F94-904F-5E969E8B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288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89FBBB49-6AB1-4E68-BFFB-AA652F42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289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DF9EBD60-B7B5-4C11-92A0-BA4156C1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289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A20DBB26-88AC-4351-B011-C6C49ACF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290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8F4136FE-B043-4D48-8169-D60C3CF6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8290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617CBFEF-8BA1-4726-BFEE-C95CB933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2291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2947369E-B8C6-4AB7-88A8-2FF447A8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6291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73702F0F-3C45-4C41-9F7C-6E74FC30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0292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F30417D9-7865-497E-854B-681B46BB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4292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C5D4A1AE-3637-4B5A-A5DC-F901CD32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8293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8AAD2092-9B5E-4BF1-AE57-6B3E6CD1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4287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69B42FFB-FF1E-47BA-A4FD-FD134427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8288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29215E32-BBCC-46C0-8C15-B7F16901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2288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114C69E6-8A47-4C13-8B39-4C2BAB44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6289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15F64938-21DF-40AB-9E64-7133F8C0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0289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CBCED8D3-5614-4E27-AB5E-D89C96A6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290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476DC8C1-44F2-483E-AAB2-7D6613D4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290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D58A494F-AC03-4F3F-95AC-264A5BB9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2291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3C505E61-A87E-4F45-A9E3-E566FAA2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6291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B07D8A22-539A-4A21-A9CC-A761C4AB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0292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7B7856F2-D5AE-4D61-A05C-D0B0BA04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4292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0969523C-CAF3-46B4-BA77-C3262CE1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8293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35A62384-1EA7-4EA7-B76E-A11F48BC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4287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D2613956-B3DD-4FAA-826F-EB8B90DE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8288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33152599-7208-473D-AB8F-B8511AE7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2288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69478232-8ED5-4643-B3AE-853D5E47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6289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FE811BB4-2DEB-4081-988C-0BEAF953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0289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5146E8E7-BD8D-4F72-B6E7-56175A39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4290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7B78181B-A99C-44B5-91F6-DF738846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8290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4EA34EBE-16E4-42CE-9918-D6616711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2291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E8636127-F2A0-4D33-AF43-5227382A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6291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3A50D53E-3A97-49F9-832D-38CA4F01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0292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00324804-4EAD-48EF-8B7F-E32590A3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4292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81CC8D29-F3FF-4212-BC48-7A3D39C5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8293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77F03FB4-9DDC-4A96-AA09-8CC3CBA0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4287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D2ACBD56-8C4E-4941-A185-23484C9F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8288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F528943C-1796-4FF4-9117-2D232368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2288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79148273-C405-4808-860B-0528ECB5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6289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D24D194D-C7CA-4122-8A66-66C782B9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0289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D51108FF-A24F-4038-B899-84D0D77E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4290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DC6D1E4A-F86A-414C-A2C0-415D41D5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8290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BE189410-1839-4C7F-87B6-1507C327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F229B140-B193-4AD0-A78E-4455E21F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6291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D8741B0E-688D-45BA-8754-C94B97E3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50292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2635C396-CF32-4C97-ADAA-AD5BDF0A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54292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FC431A9B-4FA4-451F-AF43-BE292755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58293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B92BC9CC-4827-4E7E-83B3-79B9F4C9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4287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C02FA997-9C38-498E-A976-35E962CA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8288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34C61EF4-D2AB-4077-9EE4-90BF7133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288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387822A9-F21C-4EDB-B273-E6FF7008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289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7003457B-CE2A-4F19-883D-D14F6EBA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289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626C4738-F0D2-4A5D-AE28-0E648669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B072513E-E387-43FD-BED5-28A6A174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290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9D1CE264-8B11-4A19-8928-5BFC1737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2291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13044B34-BB77-449D-83D8-D55E5F72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291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0AB16924-C810-42DB-9B0B-1A8F903E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0292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36FF844C-9E11-4A47-B58A-80B77E39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4292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052BD26E-AC05-41EC-8A56-C84E69F8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8293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A91DFE03-AE86-4DF9-9F0E-9F34F889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14287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ADF5BDD3-4DF2-4462-A396-E0CB30FA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18288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3C0EE28B-FEE3-48B6-A9C2-46402D40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22288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78515FEA-6CE2-4CDD-80AE-CE9C8B4C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26289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399B61BB-8664-4683-97BD-D80B6A88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30289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0F926816-A8AC-4FEF-85D9-4B2BCAEF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34290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CFC96D54-2D50-4F05-8BA7-8E375A72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38290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345CBCD6-1B06-469A-938D-E5CC9950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42291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EC92CFD7-626B-436A-884D-CC39D95B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46291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5A9BB2BC-1554-4427-AEA5-00069755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50292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45155890-F97C-493D-8FE1-23B63E7C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542925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BDDCAF1B-B49D-4F64-AC6D-624689E2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5829300"/>
            <a:ext cx="22860" cy="22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F4958716-A096-4B92-BA21-6FFA692B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5C7130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5C7130"/>
                </a:solidFill>
                <a:latin typeface="Courier New"/>
                <a:ea typeface="Courier New"/>
                <a:cs typeface="Courier New"/>
              </a:rPr>
              <a:t>THE BOTTLENECK</a:t>
            </a:r>
          </a:p>
        </p:txBody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F61EEB21-83DA-467D-B341-3CF38CFF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Robotics has a data mismatch</a:t>
            </a:r>
          </a:p>
        </p:txBody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86C112D1-BE91-4D63-A330-5FD9B762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379A2C33-C1E0-4078-87C7-6A70988D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3143250" cy="21717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5D8CF"/>
            </a:solidFill>
            <a:prstDash val="solid"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3EFC0A3B-F372-4F12-A502-9FD5C9EA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1333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0AD1855A-A4AC-4DC3-A530-D9F1C448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0225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WHAT PEOPLE DO</a:t>
            </a:r>
          </a:p>
        </p:txBody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5C99716A-F481-4C5F-922F-D6B3F716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Egocentric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0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video</a:t>
            </a:r>
          </a:p>
        </p:txBody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CE099FA5-6ACE-4B73-97CF-A4233EFB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rPr>
              <a:t>Rich behavior, but no robot state or control signal.</a:t>
            </a:r>
          </a:p>
        </p:txBody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BD68B19C-4AD4-4B29-BEF2-74741788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669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B6F29195-C86B-43F8-AC9E-C47FE379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43150"/>
            <a:ext cx="1123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200" b="1" i="0">
                <a:solidFill>
                  <a:srgbClr val="EF70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 i="0">
                <a:solidFill>
                  <a:srgbClr val="EF7053"/>
                </a:solidFill>
                <a:latin typeface="Helvetica Neue"/>
                <a:ea typeface="Helvetica Neue"/>
                <a:cs typeface="Helvetica Neue"/>
              </a:rPr>
              <a:t>≠</a:t>
            </a:r>
          </a:p>
        </p:txBody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FE1A157E-4311-42A4-B152-777672EC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62100"/>
            <a:ext cx="5867400" cy="21717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10261B"/>
          </a:solidFill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DE3AA492-D248-4B47-88D0-3E4B4D06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90700"/>
            <a:ext cx="1543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F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300A307B-ECB6-4D2D-902F-46B4F84F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00225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WHAT ROBOTS NEED</a:t>
            </a:r>
          </a:p>
        </p:txBody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6DDDE2A8-8EC4-4435-9C59-8DEEE867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86000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700" b="1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Action, state, rights, evaluation</a:t>
            </a:r>
          </a:p>
        </p:txBody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0EC9E690-0BE9-4D8B-9588-563B9A5A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194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rPr>
              <a:t>A traceable episode that a buyer can train on, audit, and measure.</a:t>
            </a:r>
          </a:p>
        </p:txBody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15E0FD78-866B-4003-AC7F-F9084010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8CF"/>
            </a:solidFill>
            <a:prstDash val="solid"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C2E79681-DA1C-4561-B9B2-47C95F07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EF7053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EF7053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96756DEF-306F-4DE3-9BAB-CB067A68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958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NO CALIBRATION</a:t>
            </a:r>
          </a:p>
        </p:txBody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3AE4B5C2-5CF8-4A8D-A3AF-01671AF1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768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rPr>
              <a:t>Camera motion rarely maps to the body or scene.</a:t>
            </a:r>
          </a:p>
        </p:txBody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CE4FE0AE-2F51-4193-B4C8-5BF23E07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434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F7053"/>
            </a:solidFill>
            <a:prstDash val="solid"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37AD5416-B820-4DB6-8131-AFF6B3CE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95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EF7053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EF7053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A44BA96F-8B26-46C2-ACE0-FA9F4287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4958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NO RIGHTS LINEAGE</a:t>
            </a:r>
          </a:p>
        </p:txBody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1AF751AB-BD84-4CD8-9B04-F2156504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8768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rPr>
              <a:t>Consent and property permissions rarely follow each clip.</a:t>
            </a:r>
          </a:p>
        </p:txBody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ED4DA4E4-9FAA-4569-9F44-7A58A79F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434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8CF"/>
            </a:solidFill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CB159ECC-D293-49A4-99B2-8E9890CF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95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EF7053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EF7053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EE6C8008-2B8B-4868-A20D-F6764530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958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NO ACCEPTANCE TEST</a:t>
            </a:r>
          </a:p>
        </p:txBody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10FFADE9-7D08-4045-BBEB-29B447A3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768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rPr>
              <a:t>Video quantity says little about model lift or task success.</a:t>
            </a:r>
          </a:p>
        </p:txBody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9A54DA40-64E4-40AF-BD10-4E94EBD2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8CF"/>
            </a:solidFill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000F6EE8-CBD0-48A4-BA85-294FC42A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81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675" b="0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NVIDIA GR00T documentation; OECD AI capability indicators, 2026</a:t>
            </a:r>
          </a:p>
        </p:txBody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F85E6ADB-3079-4ED5-83B2-FA39456B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67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WORKTRACE / 02</a:t>
            </a:r>
          </a:p>
        </p:txBody>
      </p:sp>
    </p:spTree>
    <p:extLst>
      <p:ext uri="{BB962C8B-B14F-4D97-AF65-F5344CB8AC3E}">
        <p14:creationId xmlns:p14="http://schemas.microsoft.com/office/powerpoint/2010/main" val="4951180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F8DD34E-C4EE-44CA-9D34-2042832C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rPr>
              <a:t>THE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3E7743-D8E1-431C-96F5-641509A5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WorkTrace is a trace compiler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78527-6184-4A06-93FF-8C5AD44E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75F00E-A452-4148-BC05-AA7009F6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rPr>
              <a:t>It converts authorized work into a buyer-ready chain of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C0E39B-79CC-45A2-9EBF-91851953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619250" cy="22669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0261B"/>
          </a:solidFill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92133-684F-4888-B1B8-11789883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3372C0-0239-4BDD-B2D2-17BC3D73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D15"/>
          </a:solidFill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060F20-C248-4007-B535-9F3F17D2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82C9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>
                <a:solidFill>
                  <a:srgbClr val="82C9FF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18113B-F6E9-4D3A-B32A-11E01BE5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rPr>
              <a:t>AUTHORIZE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BA0B3A-2C6D-4143-ADB2-1E240310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rPr>
              <a:t>Worker, site, purpose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7E6308-626C-494B-8FD5-21FACFE2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00037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2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EF70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EF7053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A2FF33-C16D-4ADF-B16F-93732A22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114550"/>
            <a:ext cx="1619250" cy="22669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0261B"/>
          </a:solidFill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4EACB8-FE9B-454D-BE7D-7B97AA0F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305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F9B4EC-A0BD-4931-B69F-0EC717DC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743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D15"/>
          </a:solidFill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4B621A-7252-4ED2-A689-B68A4061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003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82C9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>
                <a:solidFill>
                  <a:srgbClr val="82C9FF"/>
                </a:solidFill>
                <a:latin typeface="Courier New"/>
                <a:ea typeface="Courier New"/>
                <a:cs typeface="Courier New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CCF8EE-28BB-4554-844F-00DD0016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3528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rPr>
              <a:t>CAPTURE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A76E2F-3DCC-463C-954D-9B1F5BA2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733800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rPr>
              <a:t>RGB, IMU, markers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CD9C8F-C1FD-482B-8C3C-9D59166A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0037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2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EF70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EF7053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BB7786-6CB8-4474-B62E-56800A8A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14550"/>
            <a:ext cx="1619250" cy="22669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0261B"/>
          </a:solidFill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7B7E5B-8067-4CBC-A7AC-0E92FA11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05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03F349-AC51-483D-BC76-B0810449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43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D15"/>
          </a:solidFill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6F8531-7F19-46DE-8B36-B5D5C0AD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003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82C9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>
                <a:solidFill>
                  <a:srgbClr val="82C9FF"/>
                </a:solidFill>
                <a:latin typeface="Courier New"/>
                <a:ea typeface="Courier New"/>
                <a:cs typeface="Courier New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6D039A-E1B4-484F-BD5D-0BC7D7CC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528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rPr>
              <a:t>SEGMENT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F5DC61-1E0E-4F70-AB65-C1811874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rPr>
              <a:t>Actions and corrections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F317FC-E68A-451C-A8B4-0E467072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0037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2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EF70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EF7053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EABBAA-A7CB-41BF-9F53-4D70F086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14550"/>
            <a:ext cx="1619250" cy="22669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0261B"/>
          </a:solidFill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8BC340-B053-43A4-A24C-A9AF93CE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05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7851CF-2A80-4BC8-8CD9-97ECC37B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43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D15"/>
          </a:solidFill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30D68B-F3CC-4753-9E87-5A5BA54A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003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82C9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>
                <a:solidFill>
                  <a:srgbClr val="82C9FF"/>
                </a:solidFill>
                <a:latin typeface="Courier New"/>
                <a:ea typeface="Courier New"/>
                <a:cs typeface="Courier New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2DDCB8-1D49-457F-A2D8-B4CC0715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528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rPr>
              <a:t>VERIFY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F5AF60-179C-4817-877A-41468A09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33800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rPr>
              <a:t>State, success, quality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DDD640-AE81-4344-98FA-D1EB258D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0037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2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EF70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EF7053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A6FF34-DB14-418D-B353-45AF7C45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14550"/>
            <a:ext cx="1619250" cy="22669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0261B"/>
          </a:solidFill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11F7D5-8B9B-426D-998C-97D16FF1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05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5D947C-0C4F-4EC3-A47B-DEB99D54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43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D15"/>
          </a:solidFill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ACAB7D-E2D4-4663-9F49-AC8C6698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003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82C9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>
                <a:solidFill>
                  <a:srgbClr val="82C9FF"/>
                </a:solidFill>
                <a:latin typeface="Courier New"/>
                <a:ea typeface="Courier New"/>
                <a:cs typeface="Courier New"/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357086-0E90-4696-837B-ABD2ED4B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528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rPr>
              <a:t>RELEASE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799925-2D40-4E12-B758-EBDB9BB7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33800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rPr>
              <a:t>Mask, rights, lineage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CD457F-D84C-4E7D-BE6F-4F10AB79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0037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2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EF70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EF7053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2C5A1E-8EE6-4160-892F-47F6EFAD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114550"/>
            <a:ext cx="1619250" cy="22669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C9F36A"/>
          </a:solidFill>
          <a:ln xmlns:a="http://schemas.openxmlformats.org/drawingml/2006/main" w="9525">
            <a:solidFill>
              <a:srgbClr val="C9F36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487324-03C4-485F-A2CD-6A59784D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305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06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6CEE31-802E-4555-A288-6CA899EC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743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9525">
            <a:solidFill>
              <a:srgbClr val="07110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7C8A73C-5B5B-413E-9A7D-31E4113C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003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rPr>
              <a:t>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5F985A2-44EB-4C7B-9088-845A2554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3528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EVALUATE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22DB82B-A12F-4F13-BA37-AF0818BB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733800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2D3E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D3E1A"/>
                </a:solidFill>
                <a:latin typeface="Helvetica Neue"/>
                <a:ea typeface="Helvetica Neue"/>
                <a:cs typeface="Helvetica Neue"/>
              </a:rPr>
              <a:t>Buyer acceptance test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2332A6D-BCE0-4D4B-8718-D8AA0AEB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0C1D15"/>
          </a:solidFill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5DAB2A3-E083-415F-82D5-D070586F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EF7053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EF7053"/>
                </a:solidFill>
                <a:latin typeface="Courier New"/>
                <a:ea typeface="Courier New"/>
                <a:cs typeface="Courier New"/>
              </a:rPr>
              <a:t>OUTPUT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082D3E6-38A6-48BE-B505-96EA62EB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067300"/>
            <a:ext cx="847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One accepted episode. Every claim carries evidence.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D39FBDD-920D-4AB6-882A-0EDBB75D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245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rPr>
              <a:t>Human behavior data for pretraining, planning, perception, navigation, and evaluation. Robot-transfer claims require richer signals.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74BB889-F572-4CD1-8CB7-27FC0C59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D895F36-1A8A-424E-8C40-0D3D9B22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81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675" b="0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WorkTrace prototype architecture, July 2026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06644DD-7693-4347-9584-8F0723F9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675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WORKTRACE / 03</a:t>
            </a:r>
          </a:p>
        </p:txBody>
      </p:sp>
    </p:spTree>
    <p:extLst>
      <p:ext uri="{BB962C8B-B14F-4D97-AF65-F5344CB8AC3E}">
        <p14:creationId xmlns:p14="http://schemas.microsoft.com/office/powerpoint/2010/main" val="13671909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8521442-A869-41F4-A767-E257B8D2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5C7130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5C7130"/>
                </a:solidFill>
                <a:latin typeface="Courier New"/>
                <a:ea typeface="Courier New"/>
                <a:cs typeface="Courier New"/>
              </a:rPr>
              <a:t>ENTRY WEDGE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482F0E-BF1F-404E-972B-B9E39ECE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Vacant-home staging is unusually data-dense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036A5-8DE9-48FB-9D35-D3E0FDF3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0700D-621B-45C9-AD2D-73872958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rPr>
              <a:t>It combines real residential complexity with lower bystander exposure and clear completion states.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3AAF1D-58DC-4E54-ACAC-4A6E20AB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9C9C85-80FA-444B-8F7E-62BBCB76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28825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FF405C-028E-4413-8189-A1EBCAD4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859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LOWER PRIVACY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FD6D9D-046B-46E7-B6F9-82A53DA8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717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rPr>
              <a:t>Vacant spaces reduce faces, children, personal documents, screens, and resident audio.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6FB756-76FD-474B-A999-10C20023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2C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490067-D3A0-4C1F-AD64-0D8388FF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62275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48BE8A-10BC-4DEC-8CFB-0DE4F9BF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194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BIMANUAL TASKS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C3FECA-E714-4A8D-994E-40A3F5AC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051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rPr>
              <a:t>Carry, unpack, assemble, place, align, correct, inspect, and remove.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10FEA0-72C4-4930-A2E4-85B059E5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DCFDAA-4316-4C32-867E-B103F85D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95725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E45C7A-4AE1-415B-8587-0B62B57E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528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CLEAR STATES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D57F4E-532C-4262-B03E-7EB8B923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386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rPr>
              <a:t>Empty room to staged room creates observable before, after, success, and correction events.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0B32BC-B36F-4CC1-AF31-7CE2B0A6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2C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68A7E1-B823-4F88-B07D-ED7950C4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29175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F0C82F-0045-439A-90F1-FB8F5292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863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OPERATING ACCESS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FD6179-0F7F-4095-8350-CBFFBFBC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720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rPr>
              <a:t>Stagers already schedule crews, properties, supervisors, routes, and equipment.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98C6F9-8328-4BD9-BFD6-DEE39E00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5543550" cy="41719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071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7E32DD-174A-4E17-A55F-594113E7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19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rPr>
              <a:t>CEDAR HOUSE 014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391517-BBC7-41DE-9662-9830BCF1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81250"/>
            <a:ext cx="4286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850" b="1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One job.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850" b="1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Six task families.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3489CC-6A6C-4B64-BE14-0D5CD5E4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19500"/>
            <a:ext cx="13906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53224"/>
          </a:solidFill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76FE4C-3BAA-43CA-B1B4-DA2701F0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1475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rPr>
              <a:t>UNPACK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D14E87-F844-4DC6-9796-3F59EFF7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43350"/>
            <a:ext cx="1162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0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675" b="0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task episode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DF13D6-8CB4-4DA7-BCDE-0A4EDDB3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19500"/>
            <a:ext cx="13906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53224"/>
          </a:solidFill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8A6280-FC40-4510-919E-EDCF22F5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1475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rPr>
              <a:t>CARRY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824584-F8EB-477E-AEE1-AF683C6B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43350"/>
            <a:ext cx="1162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0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675" b="0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task episode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08684D-1433-434C-BCAA-6548DB22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19500"/>
            <a:ext cx="13906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53224"/>
          </a:solidFill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54F7E7-B374-4C0A-935B-8CAEA7F6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71475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rPr>
              <a:t>ASSEMBLE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C54613-605E-4491-B81C-9EFD48EA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943350"/>
            <a:ext cx="1162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0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675" b="0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task episode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119FBA-7833-437E-AEBF-55A075D4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38650"/>
            <a:ext cx="13906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53224"/>
          </a:solidFill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27B065-01B8-43E1-ADEA-3718C910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3390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rPr>
              <a:t>PLACE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399165-3B03-422D-A9DD-6A31657F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62500"/>
            <a:ext cx="1162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0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675" b="0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task episode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1B9948-3ADD-4142-8EDC-09CA9EC8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38650"/>
            <a:ext cx="13906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F7053"/>
          </a:solidFill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488503-728B-4B1F-9E15-E507CB1A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3390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CORRECT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337756-C97E-4274-85D2-8BA206AA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62500"/>
            <a:ext cx="1162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0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675" b="0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high-value recovery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3FC67D-1B75-4CB6-94D4-B4C9195B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438650"/>
            <a:ext cx="13906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53224"/>
          </a:solidFill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A6885F-A124-4A25-9D93-AC0ACFE7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53390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rPr>
              <a:t>INSPECT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D42467-57DC-4B2B-A3EB-FE2E176F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762500"/>
            <a:ext cx="1162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0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675" b="0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task episode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6DCF4A4-0139-4070-B581-F93D5109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8C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E9A35CA-4845-4866-9007-7540E1D0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81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675" b="0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WorkTrace proposed staging program; risk analysis is a planning judgment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C9CA92C-7DDF-4E00-906E-04DB4BD3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67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WORKTRACE / 04</a:t>
            </a:r>
          </a:p>
        </p:txBody>
      </p:sp>
    </p:spTree>
    <p:extLst>
      <p:ext uri="{BB962C8B-B14F-4D97-AF65-F5344CB8AC3E}">
        <p14:creationId xmlns:p14="http://schemas.microsoft.com/office/powerpoint/2010/main" val="7907529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8E64A55-5196-469D-98E4-3DA4D1DE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rPr>
              <a:t>SELLABLE UNIT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B5FCDE-EDF6-4DFB-8350-EFB2D962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The dataset is more than video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0A3C30-4D56-477D-9C0E-BB65CEF9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A9D213-B439-4EA9-BE57-712EB757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rPr>
              <a:t>Every accepted episode carries six synchronized layers.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E47CA8-43D2-4E91-B35E-B1A791DA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38350"/>
            <a:ext cx="2781300" cy="2781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36A"/>
          </a:solidFill>
          <a:ln xmlns:a="http://schemas.openxmlformats.org/drawingml/2006/main" w="19050">
            <a:solidFill>
              <a:srgbClr val="B5FF4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A2E07D-6D9E-4104-8356-23A555B6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8130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217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217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ACCEPTED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217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217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EPISODE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7490E3-1AAF-41EA-A685-233BC189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52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 i="0">
                <a:solidFill>
                  <a:srgbClr val="415424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415424"/>
                </a:solidFill>
                <a:latin typeface="Courier New"/>
                <a:ea typeface="Courier New"/>
                <a:cs typeface="Courier New"/>
              </a:rPr>
              <a:t>trace_id: CH014-0082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0F4CE4-04A0-4C66-93B0-A3FDB674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9718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261B"/>
          </a:solidFill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6F5702-D378-4537-A6E0-D72D9B9E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4191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2C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808129-2430-4FFE-9B07-D67548AA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6217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0BE57C-6144-4992-908A-31B34F3D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52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rPr>
              <a:t>SENSORS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77D481-9A06-438D-9144-487A1903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rPr>
              <a:t>RGB, timecode, IMU, calibration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A3A98A-22BA-4249-990E-ACC593E1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9718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261B"/>
          </a:solidFill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2D7871-B9EE-4E92-93DF-107913F2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4191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E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2398FC-25C6-49A1-9FD1-708E70BC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7667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B16405-6FCD-4F1F-A53C-F9BA52FB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671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rPr>
              <a:t>TASK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C21586-496B-4F35-A05A-73D0F1BB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rPr>
              <a:t>Instruction, action, object, room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26EF5C-CBC0-42BC-BA73-0789177A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00250"/>
            <a:ext cx="29718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261B"/>
          </a:solidFill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ED6272-A900-4CED-84C1-770A0717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52650"/>
            <a:ext cx="4191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70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08DD5A-BD8A-439C-B823-BE3C8BB2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6217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695859-D0D3-4458-8C52-D02B0A09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52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rPr>
              <a:t>STATE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A2BDC1-B958-4EF4-95E4-99261388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14600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rPr>
              <a:t>Before, after, success, correction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E94E1E-8140-4934-82B7-E624298E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14750"/>
            <a:ext cx="29718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261B"/>
          </a:solidFill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3EDA93-0601-44DC-B361-0A3A1A9E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67150"/>
            <a:ext cx="4191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F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BBE982-8B61-4D37-8D34-58852663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7667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E9B972-C115-4AAA-B755-18322B99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671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rPr>
              <a:t>RIGHTS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A58935-78E7-487E-88A2-7F918F2B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29100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rPr>
              <a:t>Worker, property, purpose, retention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F40F7D-445B-4DA6-83EC-ABAA316C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095875"/>
            <a:ext cx="29718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261B"/>
          </a:solidFill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1C598D-BFCE-4C00-B421-50036B68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248275"/>
            <a:ext cx="4191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2C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005D4D-1A5C-4016-9942-EB6B3F7F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578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940C43-37C0-4E86-A7E6-877AD53F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482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rPr>
              <a:t>QUALITY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3A4B60-6C7A-4CAC-BCE0-BA3E0846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610225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rPr>
              <a:t>Coverage, blur, occlusion, timing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947960-3B0F-4F97-8A93-F9A93AB0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095875"/>
            <a:ext cx="29718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261B"/>
          </a:solidFill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BB85EC-6DFD-467D-8A7E-DBF0DDC5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48275"/>
            <a:ext cx="4191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70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8EAEA5-3FC7-4DEA-AC7B-4CDE0662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2578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D7BEFC-A47E-45FC-BF0F-8EC0B255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2482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rPr>
              <a:t>EVALUATION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642FC0-7CB6-44DC-8912-F5CB9852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610225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rPr>
              <a:t>Buyer score, rejection reason, lift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73626F-8ED7-46C6-8441-E826D2A7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333734-56BE-40A5-9632-FCE9F649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81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675" b="0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Proposed WorkTrace episode schema; buyer specification required before capture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784292-DAB4-4A3D-82A6-F5282551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675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WORKTRACE / 05</a:t>
            </a:r>
          </a:p>
        </p:txBody>
      </p:sp>
    </p:spTree>
    <p:extLst>
      <p:ext uri="{BB962C8B-B14F-4D97-AF65-F5344CB8AC3E}">
        <p14:creationId xmlns:p14="http://schemas.microsoft.com/office/powerpoint/2010/main" val="6675695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CCFFF0-DBA0-484A-A198-EA0D9027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5C7130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5C7130"/>
                </a:solidFill>
                <a:latin typeface="Courier New"/>
                <a:ea typeface="Courier New"/>
                <a:cs typeface="Courier New"/>
              </a:rPr>
              <a:t>WHY 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343874-8EA4-44AB-B98C-F100E3A0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Demand is visible. Generality is not solved.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5D230-8AFD-4F6A-9EF2-71BBAD7E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94D992-4BB9-49AA-A2FE-CC5DD23C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rPr>
              <a:t>The strongest opportunity is the picks-and-shovels layer, not a bet on one humanoid forecast.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0A461-99AE-4AE5-986C-E3FFA645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2514600" cy="2324100"/>
          </a:xfrm>
          <a:prstGeom xmlns:a="http://schemas.openxmlformats.org/drawingml/2006/main" prst="roundRect">
            <a:avLst>
              <a:gd name="adj" fmla="val 7377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5D8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15BF1F-26D5-4D46-AE2A-F5F0FE3A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574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IFR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F025C-F673-4486-AE0A-2ADD4AD0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C9F3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C9F36A"/>
                </a:solidFill>
                <a:latin typeface="Helvetica Neue"/>
                <a:ea typeface="Helvetica Neue"/>
                <a:cs typeface="Helvetica Neue"/>
              </a:rPr>
              <a:t>621K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4E80EE-C1AD-48B8-A8F9-A1CC5093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2133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00" b="0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industrial robots installed in 2025, preliminary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75EF39-C3CB-4D9A-9B89-F7376C82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66900"/>
            <a:ext cx="2514600" cy="2324100"/>
          </a:xfrm>
          <a:prstGeom xmlns:a="http://schemas.openxmlformats.org/drawingml/2006/main" prst="roundRect">
            <a:avLst>
              <a:gd name="adj" fmla="val 7377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5D8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676FA1-AB5C-49EC-8AAF-531B7C48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574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NVIDIA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E5C89D-B1DD-4F26-9438-2945A6D9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7650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82C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82C9FF"/>
                </a:solidFill>
                <a:latin typeface="Helvetica Neue"/>
                <a:ea typeface="Helvetica Neue"/>
                <a:cs typeface="Helvetica Neue"/>
              </a:rPr>
              <a:t>32K 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B9D2AB-5FC9-4E5B-8F40-6C889344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2133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00" b="0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real demonstrations and human egocentric data used in GR00T 1.7 pretraining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EB439D-748D-4E6D-8541-05F6C4AF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66900"/>
            <a:ext cx="2514600" cy="2324100"/>
          </a:xfrm>
          <a:prstGeom xmlns:a="http://schemas.openxmlformats.org/drawingml/2006/main" prst="roundRect">
            <a:avLst>
              <a:gd name="adj" fmla="val 7377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5D8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2EE425-0BA5-4414-B5B1-92470CD6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CAPGEMINI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FCACA2-449F-48F9-A863-B011493D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EF70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EF7053"/>
                </a:solidFill>
                <a:latin typeface="Helvetica Neue"/>
                <a:ea typeface="Helvetica Neue"/>
                <a:cs typeface="Helvetica Neue"/>
              </a:rPr>
              <a:t>58%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EDB213-D47F-45C3-B4C8-1332EC68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2133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00" b="0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of surveyed executives cited humanoid training challenges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2D2B4C-A908-4468-A3A0-F1420989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66900"/>
            <a:ext cx="2514600" cy="2324100"/>
          </a:xfrm>
          <a:prstGeom xmlns:a="http://schemas.openxmlformats.org/drawingml/2006/main" prst="roundRect">
            <a:avLst>
              <a:gd name="adj" fmla="val 7377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5D8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7F0593-AFB0-4AAC-BBF4-D29AD6A9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574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IFR SERVICE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C696E1-BADC-492F-9037-3238A44E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7650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AE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AE8DFF"/>
                </a:solidFill>
                <a:latin typeface="Helvetica Neue"/>
                <a:ea typeface="Helvetica Neue"/>
                <a:cs typeface="Helvetica Neue"/>
              </a:rPr>
              <a:t>&gt;25K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EE4510-0E9D-4504-B7B6-4B62FA96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19450"/>
            <a:ext cx="2133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00" b="0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professional cleaning robots sold in 2024, up 34%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3452D0-042E-4D7B-9229-33BF296E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71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519557-8872-4131-AB2B-769419EF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9650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rPr>
              <a:t>FORECAST DISCIPLINE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36C931-253B-4164-B881-FD71E3E5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2030 humanoid forecasts span &lt;1M to &gt;6M annual units.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DA7765-A9D7-40D0-A442-20326414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962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rPr>
              <a:t>WorkTrace can win if buyer models need better data. It does not require the biggest robot forecast to be right.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881894-B111-42BB-AE3A-9292DF4B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8C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FF7F7-DC6F-46AE-88EB-D657E288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81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675" b="0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IFR 2026 preliminary; NVIDIA GR00T 1.7, Jul. 7, 2026; Capgemini, Apr. 2026; BCG, Apr. 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F4B991-3891-4CA1-B075-EA6D8AA8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67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WORKTRACE / 06</a:t>
            </a:r>
          </a:p>
        </p:txBody>
      </p:sp>
    </p:spTree>
    <p:extLst>
      <p:ext uri="{BB962C8B-B14F-4D97-AF65-F5344CB8AC3E}">
        <p14:creationId xmlns:p14="http://schemas.microsoft.com/office/powerpoint/2010/main" val="14677193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4C1632-25B3-4FD0-9C03-8ECC4DDE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rPr>
              <a:t>COMPETITIVE TRUTH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6FEDC4-F065-4FA5-885F-142C7F20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The category is validated, and crowded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AD9A59-7B6A-4185-A766-468B15E8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4E28D3-6B5D-4041-9230-E6BD6A2D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rPr>
              <a:t>The pitch cannot be that WorkTrace invented human demonstration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3C5BAC-DF86-448E-BDB8-69CB8388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0261B"/>
          </a:solidFill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29194B-E6C1-4ADA-AF83-B4C2AD00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rPr>
              <a:t>COMPANY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EA0BAE-D8C9-4000-A064-B103D020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000250"/>
            <a:ext cx="3695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rPr>
              <a:t>OFFER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1B0D60-813A-48C6-A53A-9070BAE8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002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rPr>
              <a:t>PUBLIC SIGNAL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6DB17B-E9BD-47E7-94DE-9C4C2D32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66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rPr>
              <a:t>WHAT IT PROVES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6E218A-4F5A-4F1A-9C2C-515A3B3A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C11C3A-898B-4C41-BBAA-7667B1D3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82C9FF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82C9FF"/>
                </a:solidFill>
                <a:latin typeface="Courier New"/>
                <a:ea typeface="Courier New"/>
                <a:cs typeface="Courier New"/>
              </a:rPr>
              <a:t>POSEIDON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9F075-1156-43E6-9CC4-1E0E730F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36220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Licensed household first-person video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3F1AAC-9020-4141-8819-CF170D38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622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$15M seed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C41E88-BF33-44BF-9668-F372A9F8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622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Category 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7A77AC-7E7D-4066-AD2F-08BCE7C6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DEE3B3-6932-41E0-A172-13538660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82C9FF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82C9FF"/>
                </a:solidFill>
                <a:latin typeface="Courier New"/>
                <a:ea typeface="Courier New"/>
                <a:cs typeface="Courier New"/>
              </a:rPr>
              <a:t>MOVO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E34217-99D0-46E5-8BCC-1BEF39E8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9560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Managed household capture in Colombia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0F9177-D5D2-4D01-9F29-875EE59C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956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$25 / $55 / $95 per hour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B5C327-4F92-4CFE-A104-3E76DE6E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956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Price anchor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74F795-8728-4080-930F-DAFBD80A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66D6E1-09E8-4648-B421-36FE6D17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82C9FF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82C9FF"/>
                </a:solidFill>
                <a:latin typeface="Courier New"/>
                <a:ea typeface="Courier New"/>
                <a:cs typeface="Courier New"/>
              </a:rPr>
              <a:t>XDOF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6EC642-20A1-4274-B80D-C37BF608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42900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Bimanual robot teleoperation 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691D77-4059-4DEE-A2EB-E9E31D4C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290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130K open episodes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F7F3ED-2C40-4DEC-A565-A8B2A5E2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290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Robot-native signal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47717D-A43D-42AF-953E-A0AD34C5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1FB564-CDA8-4696-9AFF-35EB80DE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82C9FF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82C9FF"/>
                </a:solidFill>
                <a:latin typeface="Courier New"/>
                <a:ea typeface="Courier New"/>
                <a:cs typeface="Courier New"/>
              </a:rPr>
              <a:t>FIGURE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5464E3-DA50-4C5E-8F52-E08B4411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96240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Property partnership and human video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10C920-20C9-424A-9103-5D833F09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624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100K+ homes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C22192-595B-45A1-B96C-1E499F3D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624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Access at scale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1F0AFF-0A73-4093-B2BD-34F8535B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C9F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38D3C1-2278-44B9-93FB-A6515743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WORKTRACE DIFFERENTIATION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289339-D689-48A3-BD93-E93DC991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53025"/>
            <a:ext cx="771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Vacant-home workflow access + fair worker economics + rights lineage + evaluation-grade packaging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2DAF3E-6673-4C85-8DCC-A960ABBC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619750"/>
            <a:ext cx="695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3D4D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3D4D24"/>
                </a:solidFill>
                <a:latin typeface="Helvetica Neue"/>
                <a:ea typeface="Helvetica Neue"/>
                <a:cs typeface="Helvetica Neue"/>
              </a:rPr>
              <a:t>No uniqueness claim. Win through a sharper wedge and buyer-measured lift.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901F09-248E-4443-A75A-5D51CF6E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A869C0-E9B6-4653-99BB-8AFEE1FE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81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675" b="0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Company claims: Poseidon, MoVo, XDOF, Figure. Scale and customer statements are not independently verified.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27B567-AEB1-4AD2-92AD-2504B41A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675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WORKTRACE / 07</a:t>
            </a:r>
          </a:p>
        </p:txBody>
      </p:sp>
    </p:spTree>
    <p:extLst>
      <p:ext uri="{BB962C8B-B14F-4D97-AF65-F5344CB8AC3E}">
        <p14:creationId xmlns:p14="http://schemas.microsoft.com/office/powerpoint/2010/main" val="14084260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99AFA8-CF86-4B5D-AD7A-B951E634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5C7130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5C7130"/>
                </a:solidFill>
                <a:latin typeface="Courier New"/>
                <a:ea typeface="Courier New"/>
                <a:cs typeface="Courier New"/>
              </a:rPr>
              <a:t>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AB9A8-9D80-413B-A725-E31A52D2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Sell the specification before scaling capture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7E283-270B-4114-A119-49597965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D7E623-9A64-446B-BDD3-B71376B0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rPr>
              <a:t>A demand-first ladder keeps service subsidies from outrunning data value.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D5F541-5843-4103-9EEF-96AE99E7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514600" cy="272415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07110D"/>
          </a:solidFill>
          <a:ln xmlns:a="http://schemas.openxmlformats.org/drawingml/2006/main" w="9525">
            <a:solidFill>
              <a:srgbClr val="07110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72C911-EFB0-477F-9875-529A80A7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1547EC-7409-4008-9CAE-5EB9D4FB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rPr>
              <a:t>SPEC SPRINT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A1D879-1AE6-464E-9DAB-92F771E9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2 weeks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F3D0D2-5E62-4FA2-857C-16421D47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82C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82C9FF"/>
                </a:solidFill>
                <a:latin typeface="Helvetica Neue"/>
                <a:ea typeface="Helvetica Neue"/>
                <a:cs typeface="Helvetica Neue"/>
              </a:rPr>
              <a:t>$15K to $30K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41BEA5-92A3-43FF-808F-A1C427AC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rPr>
              <a:t>Task ontology + acceptance 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977B23-C9E4-477F-BDCC-B3CC2C44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81200"/>
            <a:ext cx="2514600" cy="25527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5D8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1D71A2-60C3-46C1-890F-A353C082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90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EF7053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EF7053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B67D56-719A-450C-9B02-7909593C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52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PAID PILOT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798D0D-214F-435C-98AC-3E8E68E0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52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50 to 100 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6D58ED-1262-402B-8784-8A02A358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147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$6K to $20K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C012A2-701C-4FEB-8636-6CF3F00F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481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rPr>
              <a:t>Buyer-reviewed accepted hours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840657-862D-4559-BDEF-F52F21C9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52650"/>
            <a:ext cx="25146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5D8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EB435F-D67B-4007-A6BD-172069D1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622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EF7053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EF7053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E50A74-4553-4E49-A505-3C82494E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241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TASK PACK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681631-72ED-4ABB-B147-4729AC2C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242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500 to 2,000 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2D9386-54DD-42C9-B92D-F4F73F5F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861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$50K to $250K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0E286E-D843-4B97-956C-930E73F8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195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rPr>
              <a:t>Rights-cleared custom dataset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BED387-59A7-4233-8EF1-5322FF2E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24100"/>
            <a:ext cx="2514600" cy="2209800"/>
          </a:xfrm>
          <a:prstGeom xmlns:a="http://schemas.openxmlformats.org/drawingml/2006/main" prst="roundRect">
            <a:avLst>
              <a:gd name="adj" fmla="val 7759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5D8C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E2E04C-F0DD-4C65-8045-A4BA0223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336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EF7053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EF7053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50B2A5-8E6B-48E5-9E0D-C4770C88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956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PROGRAM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F8C949-9CB2-471E-94B5-34043722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956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Annual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48AF45-91CF-4AAA-B965-350F5E10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576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$250K+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2D4EB8-CA77-4B05-B4E7-A3999E3E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910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rPr>
              <a:t>Recurring tasks + repeat licenses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335268-862F-49DA-8A09-AAC663D7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109728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5D8C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CA6F5F-23B6-40EA-B0DD-E82B3256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91125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PUBLIC PRICE ANCHOR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108ADD-91E1-4E6B-9C90-AFE7A5D9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1530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$25 RAW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490187-5057-4501-9DD0-6ECD84F3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530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$55 QA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72B3AD-B269-4373-BB5F-02437446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153025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$95 LABELED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112992-9783-4321-9197-55B81990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133975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908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 i="0">
                <a:solidFill>
                  <a:srgbClr val="536D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536D26"/>
                </a:solidFill>
                <a:latin typeface="Helvetica Neue"/>
                <a:ea typeface="Helvetica Neue"/>
                <a:cs typeface="Helvetica Neue"/>
              </a:rPr>
              <a:t>WorkTrace planning range: $95 to $125 per accepted hour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A18D7F-5E80-4BC9-9226-B229F790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543550"/>
            <a:ext cx="813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rPr>
              <a:t>MoVo advertised asking prices, not verified transactions. Premium depends on task specificity, rights, calibration, and evaluation.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2CBA51-71F7-4014-8E90-31AC08B1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8C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0FE07E-05E5-4C06-B67C-06A67256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81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675" b="0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MoVo public pricing accessed Jul. 17, 2026; all WorkTrace prices are planning assumptions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23B931-A38E-471E-9C4E-EEF9A49C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67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WORKTRACE / 08</a:t>
            </a:r>
          </a:p>
        </p:txBody>
      </p:sp>
    </p:spTree>
    <p:extLst>
      <p:ext uri="{BB962C8B-B14F-4D97-AF65-F5344CB8AC3E}">
        <p14:creationId xmlns:p14="http://schemas.microsoft.com/office/powerpoint/2010/main" val="8154543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87DB26-83F8-42B7-9512-967A3FE9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rPr>
              <a:t>UNIT ECONOMICS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4FF688-F233-4EAF-A689-C3AC2DD8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Measure profit per accepted hour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1AA4F6-3E25-4900-A56C-29EA48DA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7922E1-FAB1-4E78-8C08-17ED971E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rPr>
              <a:t>Cheap collection is irrelevant if footage fails buyer acceptance.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37F3C-F85B-49BA-AE73-B8050AD3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1009650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10261B"/>
          </a:solidFill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30C02-2147-441B-9F93-F52DAD5C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rPr>
              <a:t>COGS / ACCEPTED HOUR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433657-7AFC-432E-BA3E-20289BF8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90725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03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loaded raw-hour cost  ÷  accepted yield  +  QA and compliance  +  platform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165081-9155-4EA7-8EAA-252E7844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574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Workers are paid for scheduled time, even when footage is rejected.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6795F0-5BAB-455E-9FDF-EB58164F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251460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261B"/>
          </a:solidFill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5E2C39-91D5-4379-89EF-F7FB3C49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LOADED RAW HOUR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7F23EF-9719-4729-9B87-874C5EBB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$14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F55834-B996-4BC0-8140-3FA33ED4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rPr>
              <a:t>fair pay + partner + field ops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0EFB9F-4DF1-4185-9806-25FAFF9A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81350"/>
            <a:ext cx="251460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C9F36A"/>
          </a:solidFill>
          <a:ln xmlns:a="http://schemas.openxmlformats.org/drawingml/2006/main" w="9525">
            <a:solidFill>
              <a:srgbClr val="C9F36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2C5387-6D70-4849-8A88-1006B1BA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7185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ACCEPTED YIELD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85D4D8-EF04-41C5-B150-C30CE7B6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147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80%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CA7D65-FDBE-446B-8D5C-8FA12EE5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053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405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40551D"/>
                </a:solidFill>
                <a:latin typeface="Helvetica Neue"/>
                <a:ea typeface="Helvetica Neue"/>
                <a:cs typeface="Helvetica Neue"/>
              </a:rPr>
              <a:t>usable after privacy + quality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EBE83E-1381-4081-AA06-D6F5B6C7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81350"/>
            <a:ext cx="251460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261B"/>
          </a:solidFill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23354C-CFA3-4AC7-B10B-14E79A7E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7185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QA + RIGHTS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F953F7-C642-4776-B0F5-063AF0DF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147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$18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0D4693-3E88-4715-9537-1511481B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053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rPr>
              <a:t>per accepted hour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047388-1223-4ABE-A686-899C3756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81350"/>
            <a:ext cx="251460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261B"/>
          </a:solidFill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480AAA-8DD1-4205-A469-4B7418F9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7185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PLATFORM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9A72A2-816F-4E9E-A4FB-6E334AE5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147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$8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90D92E-FD81-49F9-91D5-1B491530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053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rPr>
              <a:t>storage + delivery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DD7C44-E915-406F-8D50-8938BF5D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C9F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216320-B185-4307-88BB-BCE1412F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MEXICO PLANNING CASE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EB4AF3-5195-478C-A8D8-9EA0B386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18160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$95 price  −  $43.50 COGS  =  $51.50 contribution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0012AD-0B92-4E5E-97B7-659A1277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379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54% contribution margin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73648A-A410-4747-968B-35A10464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63880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425425"/>
                </a:solidFill>
                <a:latin typeface="Courier New"/>
                <a:ea typeface="Courier New"/>
                <a:cs typeface="Courier New"/>
              </a:defRPr>
            </a:pPr>
            <a:r>
              <a:rPr sz="825" b="0" i="0">
                <a:solidFill>
                  <a:srgbClr val="425425"/>
                </a:solidFill>
                <a:latin typeface="Courier New"/>
                <a:ea typeface="Courier New"/>
                <a:cs typeface="Courier New"/>
              </a:rPr>
              <a:t>Excludes engineering, legal, sales, tax, and corporate overhead.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FAE974-D6F2-4E4E-9E60-2DFF624D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D94A61-0DC5-40C2-BF23-8AD287C9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81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675" b="0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Illustrative planning model; Mexico field inputs informed by 2026 wage, FX, and employer-cost sources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939D9-CC3B-49EF-A662-FF4E37ED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675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WORKTRACE / 09</a:t>
            </a:r>
          </a:p>
        </p:txBody>
      </p:sp>
    </p:spTree>
    <p:extLst>
      <p:ext uri="{BB962C8B-B14F-4D97-AF65-F5344CB8AC3E}">
        <p14:creationId xmlns:p14="http://schemas.microsoft.com/office/powerpoint/2010/main" val="5032491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4820D1E-0F4C-4804-B1CD-8DDADA1B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5C7130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5C7130"/>
                </a:solidFill>
                <a:latin typeface="Courier New"/>
                <a:ea typeface="Courier New"/>
                <a:cs typeface="Courier New"/>
              </a:rPr>
              <a:t>COUNTRY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991E9B-F0EE-49FE-9589-0A02D12B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Sequence for data value, not wage arbitrage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2BED14-E496-4FD2-BC3F-2BDE226F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A2ECCD-64DB-42C7-B422-3A8CE1FA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rPr>
              <a:t>Risk combines privacy, cross-border transfer, operating control, and worker-power concerns.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24272-9371-4394-B542-EA186B36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7124700" cy="38100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5D8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51136A-47F4-4135-B08C-3EC101B8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2098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8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14577-088A-408E-8536-9289039B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38450"/>
            <a:ext cx="6457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8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8697E2-880D-4529-B656-713F1EFF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098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8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18E3F8-4D66-4915-8C11-9C438592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0950"/>
            <a:ext cx="6457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8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4AA264-3AEF-4C05-8E1E-CEA916D4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098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8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4B80B2-1A40-4576-803B-1744FD39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43450"/>
            <a:ext cx="6457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8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3B26B8-C485-4FC2-8E69-6B733B94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193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67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HIGHER DATA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D39C99-484E-4140-BD3D-D2242C6A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292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67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LOWER EXECUTION RISK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A66784-1325-4A65-81F0-3BC24692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4292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67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HIGHER RISK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3B4F40-2766-450E-8D01-FBC7C5F6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860477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2C9FF"/>
          </a:solidFill>
          <a:ln xmlns:a="http://schemas.openxmlformats.org/drawingml/2006/main" w="9525">
            <a:solidFill>
              <a:srgbClr val="07110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706311-8581-4569-B03D-69CDFD9D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984302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C9E71B-D1F7-42F5-92B3-359CBA95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196233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36A"/>
          </a:solidFill>
          <a:ln xmlns:a="http://schemas.openxmlformats.org/drawingml/2006/main" w="9525">
            <a:solidFill>
              <a:srgbClr val="07110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4E87E6-703A-4DD7-8F29-B9DFDD13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320058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MX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68DC56-32A3-4542-896E-90A6F9E7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699867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7053"/>
          </a:solidFill>
          <a:ln xmlns:a="http://schemas.openxmlformats.org/drawingml/2006/main" w="9525">
            <a:solidFill>
              <a:srgbClr val="07110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BAFEB5-89B0-4BA2-BE80-F6FA30AF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823692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CO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959EDA-9629-498E-B964-11A5EEE3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692598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8DFF"/>
          </a:solidFill>
          <a:ln xmlns:a="http://schemas.openxmlformats.org/drawingml/2006/main" w="9525">
            <a:solidFill>
              <a:srgbClr val="07110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D24827-3139-48DC-BBC0-5A1752CA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816423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28BF9F-6A6F-4FFA-8761-8140E30D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440781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2C9FF"/>
          </a:solidFill>
          <a:ln xmlns:a="http://schemas.openxmlformats.org/drawingml/2006/main" w="9525">
            <a:solidFill>
              <a:srgbClr val="07110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7077EC-EC73-4643-9292-2540B1B2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64606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VN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1A3D99-6BDC-4D7A-A716-B3CC2D6A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37138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C9C1"/>
          </a:solidFill>
          <a:ln xmlns:a="http://schemas.openxmlformats.org/drawingml/2006/main" w="9525">
            <a:solidFill>
              <a:srgbClr val="07110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85F021-2402-4846-91B9-477E43D8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49520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PH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DBF46C-8A6B-4FCB-BE38-443F9BFC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43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F8D225-ABE8-4939-8B2E-25CFDC88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193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DF0A0B-AB8B-46C9-A3EC-B06FE837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240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0BFC1C-683D-4360-9615-B09464F2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526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1" i="0">
                <a:solidFill>
                  <a:srgbClr val="5E792A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5E792A"/>
                </a:solidFill>
                <a:latin typeface="Courier New"/>
                <a:ea typeface="Courier New"/>
                <a:cs typeface="Courier New"/>
              </a:rPr>
              <a:t>PROVE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74C41E-928D-49CC-B655-48963FA7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38375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rPr>
              <a:t>reference-quality staging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7B8EED-4F88-4A53-8BA2-A0DDD29A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05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E8FB9B-A171-4A3E-BA1B-6D231EC8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813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CF6742-5C7B-41B7-8E07-1DE1FD45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860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MX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F18FE4-3F7C-4D02-9370-CC19E6C2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146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1" i="0">
                <a:solidFill>
                  <a:srgbClr val="5E792A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5E792A"/>
                </a:solidFill>
                <a:latin typeface="Courier New"/>
                <a:ea typeface="Courier New"/>
                <a:cs typeface="Courier New"/>
              </a:rPr>
              <a:t>REPLICATE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D74E57-EA0F-496D-8B37-2ABFB62F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00375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rPr>
              <a:t>nearshore staging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A91513-0A84-43AA-8B4A-0F5DEFBD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67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8AC211-9060-4FFD-B081-0B106CFF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433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rPr>
              <a:t>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7677D1-3E71-4223-B672-6262B7AF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480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CO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B2D0E5C-46AD-4CD8-8309-FED550F8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766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1" i="0">
                <a:solidFill>
                  <a:srgbClr val="EF7053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EF7053"/>
                </a:solidFill>
                <a:latin typeface="Courier New"/>
                <a:ea typeface="Courier New"/>
                <a:cs typeface="Courier New"/>
              </a:rPr>
              <a:t>PILOT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1F6A6E-CE79-4D90-9313-FE881F1A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62375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rPr>
              <a:t>hospitality turnover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CD5911-65AC-4FCB-A16F-A0F2D616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29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2AAE47-1B3E-4538-BE36-9D76285A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053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rPr>
              <a:t>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2BF997E-E4AC-43A4-810D-4054EB65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100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IN / VN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D44998C-7FE7-4451-AD0D-E6CC5A70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386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1" i="0">
                <a:solidFill>
                  <a:srgbClr val="EF7053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EF7053"/>
                </a:solidFill>
                <a:latin typeface="Courier New"/>
                <a:ea typeface="Courier New"/>
                <a:cs typeface="Courier New"/>
              </a:rPr>
              <a:t>BUYER-LED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4330A7B-4054-40FA-B5E0-D3A43D1A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24375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rPr>
              <a:t>assembly and industrial tasks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01F4FBF-85C5-4587-B444-21108597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991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C7AF222-9A47-4345-96C9-870893C5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0673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rPr>
              <a:t>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526AD0C-A6BA-4374-928F-34872D99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9720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PH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D8357FA-73A6-4440-A0E1-B253CE53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0006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1" i="0">
                <a:solidFill>
                  <a:srgbClr val="EF7053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EF7053"/>
                </a:solidFill>
                <a:latin typeface="Courier New"/>
                <a:ea typeface="Courier New"/>
                <a:cs typeface="Courier New"/>
              </a:rPr>
              <a:t>QA-FIRST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3C25B98-0527-43EC-88D8-9F2F3BFE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286375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rPr>
              <a:t>annotation before capture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AFB59E0-BC51-4A00-B6A6-95FA83A0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8C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1EBDA46-D205-43E7-8017-30511094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81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675" b="0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Risk and data-value scores are WorkTrace planning judgments, not third-party ratings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4A2F646-4E4D-4301-A3BB-8250EE5E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67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WORKTRACE / 10</a:t>
            </a:r>
          </a:p>
        </p:txBody>
      </p:sp>
    </p:spTree>
    <p:extLst>
      <p:ext uri="{BB962C8B-B14F-4D97-AF65-F5344CB8AC3E}">
        <p14:creationId xmlns:p14="http://schemas.microsoft.com/office/powerpoint/2010/main" val="17862380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FC10D43-6B75-4623-8F60-52A61182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rPr>
              <a:t>COUNTRY SCENARIOS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BDE04A-1D06-4636-AB4B-1CA1ACF5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Contribution on 1,000 accepted hours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8360A-5FED-46AE-987A-FB6B6F3E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1537E2-E665-4065-AD8A-54A574D7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rPr>
              <a:t>Same formula, task-specific prices. Profit shown before central overhead.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30E20-E9DD-41A6-9B99-CE3ED76B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714500"/>
            <a:ext cx="581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COST + CONTRIBUTION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9AA5A7-59E9-4D12-A6C0-93517FDD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71450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rPr>
              <a:t>REVENUE / GM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ECA2F6-5149-44D9-913F-7B912E60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rPr>
              <a:t>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0B566C-7178-47B8-9579-0AAFB18A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240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rPr>
              <a:t>Home staging proof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B41F75-9C29-4AB7-ABFA-00AC034F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95500"/>
            <a:ext cx="5810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C1D15"/>
          </a:solidFill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BC451F-D12A-480E-B4F6-B9EE7922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95500"/>
            <a:ext cx="3981958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70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EA5479-E7DE-4923-80BE-97C2D5B1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658" y="2095500"/>
            <a:ext cx="1828292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C9F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6B99E1-057D-4791-890D-47C9C8D2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71700"/>
            <a:ext cx="398195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$85,667 COGS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E72B34-15AE-4E85-9F61-646D9F76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658" y="2171700"/>
            <a:ext cx="1828292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$39,333 GP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4B67E-D100-4FE9-9E86-50CE626E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71700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rPr>
              <a:t>$125,000  /  31%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AD91DD-17CE-4726-8ED3-5F707764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687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8290FB-9881-4D21-A8FA-9522ADEB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rPr>
              <a:t>MX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027262-F7E5-46EB-8F00-0C3F2E26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051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rPr>
              <a:t>Staging and furniture placement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51BF9A-FEA8-424C-AB10-5ED90BA8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76550"/>
            <a:ext cx="5810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C1D15"/>
          </a:solidFill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F0CE7F-9EAD-4DBF-9C8B-0392EDFE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76550"/>
            <a:ext cx="2021967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70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D55449-3445-42B3-8927-3EDE1864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667" y="2876550"/>
            <a:ext cx="2393823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C9F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14BA49-F207-4B10-9186-2083E174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52750"/>
            <a:ext cx="2021967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$43,500 COGS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269E08-D636-4322-B314-FEB28D5E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667" y="2952750"/>
            <a:ext cx="239382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$51,500 GP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2F674E-F5A3-491A-8334-2F04987E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52750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rPr>
              <a:t>$95,000  /  54%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6D0258-DD88-48D9-B8D6-4396B7DD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687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F53464-F3A2-4A9A-AB8D-B6FB773E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rPr>
              <a:t>CO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5E563D-BB30-4357-A66B-E816B3DA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861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rPr>
              <a:t>Hospitality turnover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23F0F5-1764-485A-8AA3-7BD887ED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657600"/>
            <a:ext cx="5810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C1D15"/>
          </a:solidFill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A12B50-DCE5-4D4F-A00B-292A1B2A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657600"/>
            <a:ext cx="2042824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70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F2B664-8FA8-4096-A129-722B7295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524" y="3657600"/>
            <a:ext cx="2372966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C9F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2C21A8-A98C-4158-9EC6-FD7E58BE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733800"/>
            <a:ext cx="2042824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$43,949 COGS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EA0962-2B8E-42E3-A466-4CD3B66B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524" y="3733800"/>
            <a:ext cx="237296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$51,051 GP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B313C4-99A3-4099-B00F-62F74BD4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733800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rPr>
              <a:t>$95,000  /  54%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40EB50-9965-4E7E-9226-0C538F9B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0687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6137C2-6ECE-42E0-8687-08D00E25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rPr>
              <a:t>IN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312513-D478-436A-B3A9-0A322EAC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672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rPr>
              <a:t>Controlled assembly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FF0809-E966-40B2-85FE-8E9C867A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438650"/>
            <a:ext cx="5810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C1D15"/>
          </a:solidFill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6F1D61-94DF-48F2-8999-5BDC44D4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438650"/>
            <a:ext cx="1843786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70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874219-7AD9-4389-9429-F3C61968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486" y="4438650"/>
            <a:ext cx="2572004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C9F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A0D225-64BC-43EE-8F41-7C4C3403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514850"/>
            <a:ext cx="184378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$39,667 COGS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5D32BB-EEF2-4D5D-8497-13E88F56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486" y="4514850"/>
            <a:ext cx="2572004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$55,333 GP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D0A85F-E777-4AED-8F5B-B30DFB3F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514850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rPr>
              <a:t>$95,000  /  58%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DB41DE2-FA76-4F53-9382-874BE421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10687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2FE3C0-9611-4B3E-853A-61499656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rPr>
              <a:t>VN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DD43DCB-FF5E-4B87-ACB0-38A39AF2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482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rPr>
              <a:t>Industrial kitting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EE4A39F-2C6D-489C-86F2-51B83988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219700"/>
            <a:ext cx="5810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C1D15"/>
          </a:solidFill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97777BD-B602-4788-8B7B-60769DCB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219700"/>
            <a:ext cx="1991924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70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FC997C1-0C91-4796-B63D-1DADE120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624" y="5219700"/>
            <a:ext cx="3121096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C9F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AB2C6C-7DDB-488E-9F6B-FA6FA804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295900"/>
            <a:ext cx="1991924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$42,854 COGS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BA4EE41-7170-4067-B87C-273B967D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624" y="5295900"/>
            <a:ext cx="312109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$67,146 GP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8AF8B3A-E6A5-4E35-AC46-4ACD4667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95900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rPr>
              <a:t>$110,000  /  61%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1E655EA-D98A-4C45-88EE-959AFC08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687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ECA8ADE-D4B7-4627-8443-A5D1229D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6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6D0B134-2FC3-46F1-B116-EC264705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 i="0">
                <a:solidFill>
                  <a:srgbClr val="82C9FF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82C9FF"/>
                </a:solidFill>
                <a:latin typeface="Courier New"/>
                <a:ea typeface="Courier New"/>
                <a:cs typeface="Courier New"/>
              </a:rPr>
              <a:t>PH QA-FIRST: 5,000 reviewed raw hours  |  $225,000 revenue  |  $90,000 contribution  |  40% margin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CC0A309-6AB6-4CFC-B220-09D26D3D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D2D826C-5EF1-4AF1-83A3-016748ED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81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675" b="0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All prices, yields, and costs are planning assumptions. MoVo public asking prices provide the external anchor.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3CB8B6B-3507-4FB3-A210-EF29EDC8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675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WORKTRACE / 11</a:t>
            </a:r>
          </a:p>
        </p:txBody>
      </p:sp>
    </p:spTree>
    <p:extLst>
      <p:ext uri="{BB962C8B-B14F-4D97-AF65-F5344CB8AC3E}">
        <p14:creationId xmlns:p14="http://schemas.microsoft.com/office/powerpoint/2010/main" val="6809491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3755E8-6988-4AB9-893B-2C2D9820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5C7130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5C7130"/>
                </a:solidFill>
                <a:latin typeface="Courier New"/>
                <a:ea typeface="Courier New"/>
                <a:cs typeface="Courier New"/>
              </a:rPr>
              <a:t>MEXICO LAUNCH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041E5C-5733-485D-BE70-0F923253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Nearshore staging, formal jobs, tight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B7F036-03B3-4AF7-9862-F2853C70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7040C-EC04-4383-B01D-2B465A3C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rPr>
              <a:t>Recommended first international market after a United States buyer-approved proof.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7912D0-48C8-4A7B-AFDF-F0359A84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905250" cy="4057650"/>
          </a:xfrm>
          <a:prstGeom xmlns:a="http://schemas.openxmlformats.org/drawingml/2006/main" prst="roundRect">
            <a:avLst>
              <a:gd name="adj" fmla="val 5366"/>
            </a:avLst>
          </a:prstGeom>
          <a:solidFill xmlns:a="http://schemas.openxmlformats.org/drawingml/2006/main">
            <a:srgbClr val="071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49B13F-E8AF-4704-896B-0A36F1E4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rPr>
              <a:t>1,000 ACCEPTED HOURS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A385AC-5F22-423B-8350-3135CF6F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$95,000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059D78-5934-4636-9BA3-B0A481E2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rPr>
              <a:t>planned buyer revenue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480F12-564F-459C-86AF-CB53062F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 i="0">
                <a:solidFill>
                  <a:srgbClr val="EF70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EF7053"/>
                </a:solidFill>
                <a:latin typeface="Helvetica Neue"/>
                <a:ea typeface="Helvetica Neue"/>
                <a:cs typeface="Helvetica Neue"/>
              </a:rPr>
              <a:t>$43,500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2BFFD6-5206-4B1E-AAEC-EB4F3335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rPr>
              <a:t>capture, QA, rights, platform COGS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BB5860-DE4E-447E-8D80-1644F094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339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 i="0">
                <a:solidFill>
                  <a:srgbClr val="C9F3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C9F36A"/>
                </a:solidFill>
                <a:latin typeface="Helvetica Neue"/>
                <a:ea typeface="Helvetica Neue"/>
                <a:cs typeface="Helvetica Neue"/>
              </a:rPr>
              <a:t>$51,500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5644C0-BD4F-4C80-8F63-CCFC6054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673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rPr>
              <a:t>54% contribution margin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77465B-FBF0-432E-95A5-568E50ED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054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825" b="0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Before central engineering, legal, sales, tax, and corporate overhead.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476EE2-2DDB-456D-981C-B54D603A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809750"/>
            <a:ext cx="3124200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5D8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16E146-8151-4927-820B-249CD4D4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9812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WAGE FLOOR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CC3C9F-5CCF-4B04-A839-9EABB23D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050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MXN 315.04 / day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86FFA4-08D9-4C62-A04F-FC1D19C0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813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rPr>
              <a:t>2026 general zone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D80530-2E26-4966-B543-0C469BFF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09750"/>
            <a:ext cx="3124200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5D8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6A9E6D-8601-4AC0-9182-055280C5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812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OFFICIAL FX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ABA393-DFA6-40E2-8479-419C2067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050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17.4418 MXN / USD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252EBA-B087-44DA-8348-9F3FCC46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813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rPr>
              <a:t>July 17, 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8BDF18-C905-402B-8EE4-EA685140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48050"/>
            <a:ext cx="3124200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5D8C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A138ED-B168-4D05-8F51-319D7432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195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WORKER CASH PAY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983C7C-679D-4C61-99D4-B8B60BE9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9433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MXN 80 to 100 / 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799381-3FEC-43A7-BA0D-1FC9DD8D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196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rPr>
              <a:t>proposed, about 2.0x to 2.5x floor equivalent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6FCF70-DA2E-4283-BBFE-4EDA6697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48050"/>
            <a:ext cx="3124200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5D8C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065CD2-9931-44E1-A6AE-5AB8D98A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195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LAUNCH DESIGN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A32B6A-4581-4790-A3C6-831B94F2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433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20 to 30 employees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80D12F-5450-40C6-B762-CFA096BB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196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rPr>
              <a:t>Mexico City or Guadalajara, vacant sites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84FEAE-4F43-45F0-9FA4-F55D7387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219700"/>
            <a:ext cx="668655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C9F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B4F508-BAD5-490C-8D2B-C3E72B61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40067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CONTROL FLOOR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CADD64-84EB-478C-A8F3-C7D25F1C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3340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Formal employment, written consent, property release, audio off, worker-paid rejection time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CFB7B0-7FB1-4955-89A5-7F24B885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8C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5B3867-5FDD-4098-A5D3-6CBD2515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81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675" b="0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STPS wage announcement; DOF FX, Jul. 17, 2026; LFPDPPP; WorkTrace pay and cost assumptions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092525-6E4C-4626-A21B-B81AAB59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67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WORKTRACE / 12</a:t>
            </a:r>
          </a:p>
        </p:txBody>
      </p:sp>
    </p:spTree>
    <p:extLst>
      <p:ext uri="{BB962C8B-B14F-4D97-AF65-F5344CB8AC3E}">
        <p14:creationId xmlns:p14="http://schemas.microsoft.com/office/powerpoint/2010/main" val="10296107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AB08CD6-8FD6-4DE5-A374-2C0E3A77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rPr>
              <a:t>OPERATING LANES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5DA3D2-1B36-495B-AA9D-77A249D4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Four countries, four different jobs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6F0889-649E-4D57-AC02-9D998795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30AF0D-D375-4E70-8AD2-182195D5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rPr>
              <a:t>International expansion should add task diversity and operating leverage, not erase worker protections.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0F74FB-6CDD-443B-A36B-D223E4CE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514600" cy="409575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0261B"/>
          </a:solidFill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DAA7FE-8CE3-4657-A768-E63BCAE2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11239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70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B46067-6EE2-4154-9C99-ACB45EDB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90725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67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PILOT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5BDD07-1CFE-4D20-A90A-A186CDFD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rPr>
              <a:t>COLOMBIA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244D0E-384F-406E-93D1-9D28667B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2171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800" b="1" i="0">
                <a:solidFill>
                  <a:srgbClr val="EF70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EF7053"/>
                </a:solidFill>
                <a:latin typeface="Helvetica Neue"/>
                <a:ea typeface="Helvetica Neue"/>
                <a:cs typeface="Helvetica Neue"/>
              </a:rPr>
              <a:t>Hospitality turnover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EF6907-C628-431C-9921-6B0745AC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217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35EEFB-C0A8-4251-93AA-34305776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675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CURRENT FACT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00F0F3-11B0-4D8F-BF66-3EEC9CD1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COP 2.0M monthly wage package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1D5DA5-A310-4D90-8BDB-6070927F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675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OPERATING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CFDFBF-42C8-4260-A16F-DFF8AD3A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3395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Express authorization + structured transfer role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B6E159-5C7C-4987-B8BD-89AD646F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EF7053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EF7053"/>
                </a:solidFill>
                <a:latin typeface="Courier New"/>
                <a:ea typeface="Courier New"/>
                <a:cs typeface="Courier New"/>
              </a:rPr>
              <a:t>$51,051 contribution / 1K 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455323-CD25-45A0-8553-3057BB34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790700"/>
            <a:ext cx="2514600" cy="409575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0261B"/>
          </a:solidFill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6A7B51-A8A6-449B-A938-9D4B3390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81200"/>
            <a:ext cx="11239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E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EA80E5-8C0B-4887-A1E5-007CA2D1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90725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67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BUYER-LED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275E65-2CE1-410D-9E2F-9E252DC2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384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rPr>
              <a:t>INDIA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80D0E1-300C-43F9-BACC-141444C5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76550"/>
            <a:ext cx="2171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1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800" b="1" i="0">
                <a:solidFill>
                  <a:srgbClr val="AE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AE8DFF"/>
                </a:solidFill>
                <a:latin typeface="Helvetica Neue"/>
                <a:ea typeface="Helvetica Neue"/>
                <a:cs typeface="Helvetica Neue"/>
              </a:rPr>
              <a:t>Controlled assembly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FA7125-0EC0-4E07-A734-D006FCE6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62350"/>
            <a:ext cx="217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A727E2-31C1-4759-AA1C-012513DE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33800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675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CURRENT FACT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072009-E0C2-430A-A195-EEC39762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19550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INR 549 urban casual day average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4048E1-831A-43BE-BED9-E429E5C8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48200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675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OPERATING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2FCBC3-39F7-49F2-BB82-90689506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3395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DPDP rules under phased implementation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62F785-613F-465C-9EF2-82FF7E6A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562600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AE8DFF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AE8DFF"/>
                </a:solidFill>
                <a:latin typeface="Courier New"/>
                <a:ea typeface="Courier New"/>
                <a:cs typeface="Courier New"/>
              </a:rPr>
              <a:t>$55,333 contribution / 1K 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032174-EF64-4ACF-B7A3-7CFC20AB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2514600" cy="409575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0261B"/>
          </a:solidFill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92E32E-3AA4-4CDC-8396-32DD39CC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11239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2C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A6C619-BFBB-4D0D-BBF5-45D6AC79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90725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67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BUYER-LED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F869FE-82A1-478F-A0B4-11642D79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384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rPr>
              <a:t>VIETNAM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3119D2-750F-47B4-8A12-B05393D8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76550"/>
            <a:ext cx="2171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800" b="1" i="0">
                <a:solidFill>
                  <a:srgbClr val="82C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82C9FF"/>
                </a:solidFill>
                <a:latin typeface="Helvetica Neue"/>
                <a:ea typeface="Helvetica Neue"/>
                <a:cs typeface="Helvetica Neue"/>
              </a:rPr>
              <a:t>Industrial kitting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7B11E0-FA53-4144-80E7-9CB099F2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62350"/>
            <a:ext cx="217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5ABB60-E189-4D2C-870B-D2E07202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33800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675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CURRENT FACT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C36F64-F99F-403E-A816-1D0569D0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19550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VND 17.8K to 25.5K hourly floor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014983-76AA-4DF0-A213-A5FB4BE1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48200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675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OPERATING RULE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0042C4-1995-49D1-AB2A-0D100F98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3395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Local raw vault + transfer assessment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B7EB3D-FDE3-4CD7-9834-E9C99BD5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62600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82C9FF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82C9FF"/>
                </a:solidFill>
                <a:latin typeface="Courier New"/>
                <a:ea typeface="Courier New"/>
                <a:cs typeface="Courier New"/>
              </a:rPr>
              <a:t>$67,146 contribution / 1K 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87FD16-930A-4FBC-A08A-B368538B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90700"/>
            <a:ext cx="2514600" cy="409575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0261B"/>
          </a:solidFill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10C660-9E24-4736-B0FF-032D691B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81200"/>
            <a:ext cx="11239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F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B488DA-CBE2-442B-9F57-FEE41621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90725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67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QA-FIRST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8E3983-9920-4A52-BECD-1C8A6356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384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rPr>
              <a:t>PHILIPPINES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03B515B-7FE6-40BE-A9D9-E6EF8290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76550"/>
            <a:ext cx="2171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800" b="1" i="0">
                <a:solidFill>
                  <a:srgbClr val="C9F3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C9F36A"/>
                </a:solidFill>
                <a:latin typeface="Helvetica Neue"/>
                <a:ea typeface="Helvetica Neue"/>
                <a:cs typeface="Helvetica Neue"/>
              </a:rPr>
              <a:t>Annotation and QA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E71BD3-AAEB-4A7D-A458-657EC7A4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62350"/>
            <a:ext cx="217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8F505EE-C21E-4C99-A15E-084DE7AF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33800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675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CURRENT FACT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4D1F7C7-2BE0-4046-8A16-38CF60A4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19550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PHP 695 NCR daily floor on Jul. 17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B92EEAD-AC9F-4DEE-BC66-2E20C927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648200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675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OPERATING RULE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65CBFB5-AAC6-4BB3-9805-B174C56E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93395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Counsel confirms body-camera application before capture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495594F-500D-48AF-B1FF-284A325A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562600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rPr>
              <a:t>$90,000 contribution / 5K QA h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DA65653-7E1C-4F1A-B5CC-52368F0D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EF67972-0FB2-4CFE-A950-8584935A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81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675" b="0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Country wage and privacy sources: official agencies listed in appendix. Economics are WorkTrace assumptions.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79C93E3-7173-449C-86B4-DA2EF415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675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WORKTRACE / 13</a:t>
            </a:r>
          </a:p>
        </p:txBody>
      </p:sp>
    </p:spTree>
    <p:extLst>
      <p:ext uri="{BB962C8B-B14F-4D97-AF65-F5344CB8AC3E}">
        <p14:creationId xmlns:p14="http://schemas.microsoft.com/office/powerpoint/2010/main" val="2777098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8841DD8-8EB5-43F3-890E-E69C248A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5C7130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5C7130"/>
                </a:solidFill>
                <a:latin typeface="Courier New"/>
                <a:ea typeface="Courier New"/>
                <a:cs typeface="Courier New"/>
              </a:rPr>
              <a:t>FINANCIAL SCENARIOS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BD534-4F4E-4012-BF59-E0CCC279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Profit is possible, but not automatic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4F69BF-3B7C-4512-8A64-141C6DB9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FF665-A2B6-4319-BB13-26A921EB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rPr>
              <a:t>Three planning cases show how buyer adoption, yield, pricing, and repeat licensing change the outcome.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838434-07B8-4DB8-8548-0C65FFCD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429000" cy="2362200"/>
          </a:xfrm>
          <a:prstGeom xmlns:a="http://schemas.openxmlformats.org/drawingml/2006/main" prst="roundRect">
            <a:avLst>
              <a:gd name="adj" fmla="val 7258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5D8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A06E7A-CBAF-4ACB-9425-9927693D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9525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70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5580D9-DEEC-4E51-86BA-0A3ED0D1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977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DOWNSIDE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40C6AF-B6E2-43A5-986E-FB8D27DD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$3.2M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B87E50-7064-44E2-9761-4845CED0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Y3 revenue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8CCA79-7F56-448E-A9E2-0057A24A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EF70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EF7053"/>
                </a:solidFill>
                <a:latin typeface="Helvetica Neue"/>
                <a:ea typeface="Helvetica Neue"/>
                <a:cs typeface="Helvetica Neue"/>
              </a:rPr>
              <a:t>$-1.6M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C71065-5D3C-4F2C-AF7A-4B5B849E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29000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825" b="0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Y3 EBITDA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23A403-03DE-4351-932F-C84BB671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32% gross margin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EB25C2-5D6D-4E3E-B0F0-F10E5B71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90700"/>
            <a:ext cx="3429000" cy="2362200"/>
          </a:xfrm>
          <a:prstGeom xmlns:a="http://schemas.openxmlformats.org/drawingml/2006/main" prst="roundRect">
            <a:avLst>
              <a:gd name="adj" fmla="val 7258"/>
            </a:avLst>
          </a:prstGeom>
          <a:solidFill xmlns:a="http://schemas.openxmlformats.org/drawingml/2006/main">
            <a:srgbClr val="07110D"/>
          </a:solidFill>
          <a:ln xmlns:a="http://schemas.openxmlformats.org/drawingml/2006/main" w="9525">
            <a:solidFill>
              <a:srgbClr val="07110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768ED4-668C-4F12-A784-F65B42EB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00250"/>
            <a:ext cx="9525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F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3A2570-6C38-433B-A2AD-4FD7AC92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0977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BASE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0F9475-E054-4D3A-9A3B-A149703A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574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$7.8M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5BC858-9A41-42B4-95E9-DFC1C112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908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Y3 revenue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53C0D4-CD4B-42FC-9095-0C356A3B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5280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C9F3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C9F36A"/>
                </a:solidFill>
                <a:latin typeface="Helvetica Neue"/>
                <a:ea typeface="Helvetica Neue"/>
                <a:cs typeface="Helvetica Neue"/>
              </a:rPr>
              <a:t>$0.5M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0E2E78-E54A-4BCB-9543-97323C1B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29000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825" b="0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Y3 EBITDA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B941F5-C8AE-4D1A-A772-EB70C0AC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48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82C9FF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82C9FF"/>
                </a:solidFill>
                <a:latin typeface="Courier New"/>
                <a:ea typeface="Courier New"/>
                <a:cs typeface="Courier New"/>
              </a:rPr>
              <a:t>46% gross margin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341BF7-CE3C-45D0-AD9A-0C7F38B8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90700"/>
            <a:ext cx="3429000" cy="2362200"/>
          </a:xfrm>
          <a:prstGeom xmlns:a="http://schemas.openxmlformats.org/drawingml/2006/main" prst="roundRect">
            <a:avLst>
              <a:gd name="adj" fmla="val 7258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5D8C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2BC231-2836-4E26-A9A4-B1A3404E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00250"/>
            <a:ext cx="9525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2C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4FC71A-0B06-455B-BDA3-4670117A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977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UPSIDE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B6526A-5577-4B76-A96D-C12C60D9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574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$14.0M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3A1F6A-E616-4FE9-9C5D-3622E967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908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Y3 revenue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4C7E40-F994-4E3B-81C4-9C0DCDA2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C9F3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C9F36A"/>
                </a:solidFill>
                <a:latin typeface="Helvetica Neue"/>
                <a:ea typeface="Helvetica Neue"/>
                <a:cs typeface="Helvetica Neue"/>
              </a:rPr>
              <a:t>$3.4M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EF4D4E-FEA8-4D35-A592-2E6E59C8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429000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825" b="0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Y3 EBITDA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753968-330D-4780-B3AA-BCC8EE62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481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55% gross margin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2A57C8-104E-4F9C-832A-559754B9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60772C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60772C"/>
                </a:solidFill>
                <a:latin typeface="Courier New"/>
                <a:ea typeface="Courier New"/>
                <a:cs typeface="Courier New"/>
              </a:rPr>
              <a:t>BASE CASE PATH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6B55F1-522A-4524-8851-39892EAA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9728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5D8C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5B61C8-A792-4586-B4D5-FF325A88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9110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67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YEAR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BF72AC-07DB-4A16-80BB-4BBC89C1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991100"/>
            <a:ext cx="1352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67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REVENUE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ED5E9F-A696-4FA4-8102-8ECF0438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9911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67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GROSS MARGIN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08DCCA-3408-4D59-B045-823EB676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91100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67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GROSS PROFIT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EFCBC8-4C85-4A69-ABE0-16A3D1F0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99110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67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OPEX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0A769E-C741-49B3-8E94-6F5CE306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991100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67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EBITDA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92D8BB-BDB1-4DFE-A909-C3BBE775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387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Y1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FCF462-619B-439B-ABC5-143690D9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23875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$0.5M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2EF8DC-CDE6-4B82-8299-8421BBE7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2387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22%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8CCFDF-5E64-4676-B208-DD4460A5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$0.1M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7A7023-4DF4-4492-AE77-1E7B60A1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387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$1.4M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B555E0-D1D8-4CBD-A03C-28D5A8DC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238750"/>
            <a:ext cx="1371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EF7053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EF7053"/>
                </a:solidFill>
                <a:latin typeface="Courier New"/>
                <a:ea typeface="Courier New"/>
                <a:cs typeface="Courier New"/>
              </a:rPr>
              <a:t>$-1.3M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305E680-AD71-4A3F-9BB8-578BE792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673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Y2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2266EF-0979-43A9-A504-13AB16E7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46735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$2.3M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F715464-4B06-4B38-8A30-2181DB35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4673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38%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4FAB2D2-D8AB-4563-B250-13D137AA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673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$0.9M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6D2B1F7-1D55-4375-B271-B9395B10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4673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$1.9M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446C977-9674-428F-BC0B-DA16C4A3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467350"/>
            <a:ext cx="1371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EF7053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EF7053"/>
                </a:solidFill>
                <a:latin typeface="Courier New"/>
                <a:ea typeface="Courier New"/>
                <a:cs typeface="Courier New"/>
              </a:rPr>
              <a:t>$-1.0M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256F96F-147F-45DE-887A-4846C445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959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Y3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925D555-F552-4D53-BCF3-9FB23792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69595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$7.8M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8256709-0664-487B-A494-5E7ABF71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959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46%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1934EB6-F949-4CEF-AB59-057E177E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959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$3.6M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3E1CA3B-5361-4162-A1BD-081BBB69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6959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$3.1M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11EBA50-9392-4B65-B880-6BBB576D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695950"/>
            <a:ext cx="1371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587A20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587A20"/>
                </a:solidFill>
                <a:latin typeface="Courier New"/>
                <a:ea typeface="Courier New"/>
                <a:cs typeface="Courier New"/>
              </a:rPr>
              <a:t>$0.5M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E2FE826-8536-4BB5-8BC5-B448E097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8C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F37F0FA-CFE2-44FC-9BAB-662A860D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81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675" b="0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Illustrative planning scenarios only. No historical revenue, customer count, or financial guidance is claimed.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894CD06-4DD8-4492-9010-1C54189E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67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WORKTRACE / 14</a:t>
            </a:r>
          </a:p>
        </p:txBody>
      </p:sp>
    </p:spTree>
    <p:extLst>
      <p:ext uri="{BB962C8B-B14F-4D97-AF65-F5344CB8AC3E}">
        <p14:creationId xmlns:p14="http://schemas.microsoft.com/office/powerpoint/2010/main" val="16436356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4F3FA6-294C-4B56-A77D-919881AA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rPr>
              <a:t>MARKET SIZING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B8BE11-7982-4A55-BBB5-C88D070E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Use buyer behavior, not a giant robot TAM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F66392-6A37-407C-AC73-139D3FCE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6B92C8-F64E-4DA5-B9D1-42B9BABA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rPr>
              <a:t>There is no audited market size for rights-cleared embodied-AI data. Build it from explicit spend assumptions.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D13148-CF22-4230-96A7-003F03A9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179070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10261B"/>
          </a:solidFill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E9D0C-F01B-4770-929F-7AE15353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916D8-DD5F-4EBF-BF09-2973F152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target buyers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EF64B-8DFB-4A94-815D-A5A35BEE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431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EF70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EF7053"/>
                </a:solidFill>
                <a:latin typeface="Helvetica Neue"/>
                <a:ea typeface="Helvetica Neue"/>
                <a:cs typeface="Helvetica Neue"/>
              </a:rPr>
              <a:t>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FA7985-D349-4F9C-8795-31824F0D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1526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78734C-9676-478F-B1C0-D0FECEA6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622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task packs / buyer / year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7EA70E-CE68-4EEA-913C-B9B2B627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431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EF70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EF7053"/>
                </a:solidFill>
                <a:latin typeface="Helvetica Neue"/>
                <a:ea typeface="Helvetica Neue"/>
                <a:cs typeface="Helvetica Neue"/>
              </a:rPr>
              <a:t>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A21C26-37FF-42B4-9C13-583C8D2C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526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2,000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D81E1D-5849-43D6-8D07-B627C555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622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accepted hours / pack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83F554-335C-4100-889D-163796B9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431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EF70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EF7053"/>
                </a:solidFill>
                <a:latin typeface="Helvetica Neue"/>
                <a:ea typeface="Helvetica Neue"/>
                <a:cs typeface="Helvetica Neue"/>
              </a:rPr>
              <a:t>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34FA14-AC47-438E-AF54-7D2C9098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526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 i="0">
                <a:solidFill>
                  <a:srgbClr val="C9F3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C9F36A"/>
                </a:solidFill>
                <a:latin typeface="Helvetica Neue"/>
                <a:ea typeface="Helvetica Neue"/>
                <a:cs typeface="Helvetica Neue"/>
              </a:rPr>
              <a:t>$100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505C69-33EF-464C-A0A0-AA551761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622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average price / hour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D6D266-F3DE-4607-B431-A271AFEB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669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 i="0">
                <a:solidFill>
                  <a:srgbClr val="EF70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EF7053"/>
                </a:solidFill>
                <a:latin typeface="Helvetica Neue"/>
                <a:ea typeface="Helvetica Neue"/>
                <a:cs typeface="Helvetica Neue"/>
              </a:rPr>
              <a:t>=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C605DD-DD95-45DC-9311-BC16382F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24150"/>
            <a:ext cx="102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C9F3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C9F36A"/>
                </a:solidFill>
                <a:latin typeface="Helvetica Neue"/>
                <a:ea typeface="Helvetica Neue"/>
                <a:cs typeface="Helvetica Neue"/>
              </a:rPr>
              <a:t>$48.0M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8CFDBF-D500-4E49-9675-CE2C550E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52578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C9F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C26337-3BDF-471B-85C3-5553FAC3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SERVICEABLE ANNUAL SPEND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D92515-5FAA-4FD5-A350-88C9DED6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82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$48.0M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C8DC44-F3D6-4894-B04A-DDFAB4BA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3E50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E5024"/>
                </a:solidFill>
                <a:latin typeface="Helvetica Neue"/>
                <a:ea typeface="Helvetica Neue"/>
                <a:cs typeface="Helvetica Neue"/>
              </a:rPr>
              <a:t>Planning case across 40 named target buyers. Not a published market forecast.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AC642D-CB26-4B6B-B8D7-FB8C3733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52578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10261B"/>
          </a:solidFill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795F1E-5847-4C10-939B-F07329AE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862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82C9FF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82C9FF"/>
                </a:solidFill>
                <a:latin typeface="Courier New"/>
                <a:ea typeface="Courier New"/>
                <a:cs typeface="Courier New"/>
              </a:rPr>
              <a:t>Y3 BASE SOM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9B4950-4867-4098-9B0E-045A57E9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482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$7.7M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E71A0A-3B8D-4EF9-AC88-1A81F5D8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31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rPr>
              <a:t>16 buyers × 6 packs × 800 accepted hours × $100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B8C059-14E3-4FD2-B406-09FFAF17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60070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825" b="0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Rounded to $7.8M in the base financial scenario.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E70DF5-782E-4DB5-81E3-5A68153D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040EE0-CAFF-4180-8990-6018434D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81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675" b="0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Bottom-up inputs are WorkTrace planning assumptions. Robot forecasts are context, not the spend calculation.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965508-C65A-43CB-91E8-4A03DD84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675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WORKTRACE / 15</a:t>
            </a:r>
          </a:p>
        </p:txBody>
      </p:sp>
    </p:spTree>
    <p:extLst>
      <p:ext uri="{BB962C8B-B14F-4D97-AF65-F5344CB8AC3E}">
        <p14:creationId xmlns:p14="http://schemas.microsoft.com/office/powerpoint/2010/main" val="82850726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6732EEB-E02C-4BFC-9543-5E20F75A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5C7130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5C7130"/>
                </a:solidFill>
                <a:latin typeface="Courier New"/>
                <a:ea typeface="Courier New"/>
                <a:cs typeface="Courier New"/>
              </a:rPr>
              <a:t>GO TO 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FBDDAF-0030-46AD-ACC8-AA93418B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Customer money first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97D50-4375-4BED-838C-DE413DE6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1CD239-A4FB-4D15-A8EF-99748CA9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rPr>
              <a:t>Do not make staging free until buyer acceptance and repeat value are measured.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79F75C-1D0F-41C4-8672-310AA8C9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C829D8-14BD-48CA-8FCF-DD33F564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288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032A2B-4DA1-4986-A23B-98459B41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24075"/>
            <a:ext cx="2305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8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8268A-F353-4EB3-A7D2-27995CA5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2324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0–60 DAYS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94EEE6-7702-4961-8C0E-EF1B1066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SPEC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C887B0-39C8-47BD-AF31-89AF95E1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2324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rPr>
              <a:t>Interview 15 robotics teams. Sell one task specification sprint.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1C8CF1-02AE-433E-8159-E9B5D418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23241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7110D"/>
          </a:solidFill>
          <a:ln xmlns:a="http://schemas.openxmlformats.org/drawingml/2006/main" w="9525">
            <a:solidFill>
              <a:srgbClr val="07110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0892A3-8A2C-4095-A001-08C24BBD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rPr>
              <a:t>GATE: signed acceptance schema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2A9FBA-F9A8-438C-B133-8545C058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24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AFDEE5-3B70-473D-A4F9-627050DB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288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C41312-8894-4369-8036-B1480EF8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24075"/>
            <a:ext cx="2305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8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090022-7DA8-4B31-AADA-4A66B632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33650"/>
            <a:ext cx="2324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60–120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2C0412-5809-401F-A108-A84184ED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765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PILOT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DB418A-4607-47FA-A607-88122141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71850"/>
            <a:ext cx="2324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rPr>
              <a:t>Collect 50 to 100 accepted staging hours with a small United States cohort.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81A76C-E0B3-4D87-83A7-1B40D879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52950"/>
            <a:ext cx="23241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5D8C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78668F-F19D-4D52-B469-F2D58BD4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8630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GATE: paid buyer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BBF855-3AED-460C-AD0D-05135F4B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24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D8D474-0EA4-47DE-BEA8-DBE20F61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288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7E99C2-3847-4C0E-BF8A-B214B9D6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24075"/>
            <a:ext cx="2305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8C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A27CDF-16E4-48A6-B3EC-C06D4A2E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33650"/>
            <a:ext cx="2324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4–9 MONTHS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644DD1-8ECB-492D-BBE8-5D9E7F2C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765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REPLICATE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BC1119-93E3-4758-B2F2-BA1E1BDF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71850"/>
            <a:ext cx="2324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rPr>
              <a:t>Run one Mexico staging pilot against the same blind acceptance test.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ADDD42-4F7F-4704-ACE8-4C0F6466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52950"/>
            <a:ext cx="23241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5D8C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C6C301-6FB7-4593-93C5-A45E7432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8630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GATE: quality parity + margin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4DE532-2909-4A83-A5CB-DC7F48B9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24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CB848E-6F87-4386-8822-CCF22884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288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DC1D83-C7A0-4DE4-9FA6-3A7E8AA3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33650"/>
            <a:ext cx="2324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9–18 MONTHS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CCE859-F564-47FC-890C-AD02B296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765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PROGRAM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0E624A-249B-44A5-BE65-AB6C30C0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71850"/>
            <a:ext cx="2324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rPr>
              <a:t>Expand one task family, then add Colombia or an Asia buyer-led lane.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3DD5A0-0296-4293-A81E-9C5E2E8B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52950"/>
            <a:ext cx="23241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5D8C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78BF05-C567-4883-8F32-B4B213C4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68630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GATE: repeat order or LOI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46AA93-CB27-4965-A5F5-465EE4DE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F70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26C811-6888-42EB-882A-FFFA8B22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07110D"/>
                </a:solidFill>
                <a:latin typeface="Courier New"/>
                <a:ea typeface="Courier New"/>
                <a:cs typeface="Courier New"/>
              </a:rPr>
              <a:t>NO FREE SERVICE DEFAULT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6A6AC8-DBFC-460A-9F60-33BA3E2D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63880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Partner subsidy + separate worker premium first. Test free staging only as a capped acquisition experiment.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667789-9223-424E-BF4B-B8791D46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8C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66C15A-F5AB-4134-8E9D-702D0B4E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81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675" b="0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Recommended commercialization sequence based on current public pricing and competitive evidence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D6A8D9-892F-4ED5-AB25-96637148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67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WORKTRACE / 16</a:t>
            </a:r>
          </a:p>
        </p:txBody>
      </p:sp>
    </p:spTree>
    <p:extLst>
      <p:ext uri="{BB962C8B-B14F-4D97-AF65-F5344CB8AC3E}">
        <p14:creationId xmlns:p14="http://schemas.microsoft.com/office/powerpoint/2010/main" val="5172409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07D1701-2600-4A2E-8D6F-4B4D8E28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rPr>
              <a:t>CAPITAL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72F24-BAE8-4886-8598-55884C21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Raise after demand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FE71C-6269-4059-981E-D9C9D346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58DEFC-13F3-445E-A555-34E9C052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93A096"/>
                </a:solidFill>
                <a:latin typeface="Helvetica Neue"/>
                <a:ea typeface="Helvetica Neue"/>
                <a:cs typeface="Helvetica Neue"/>
              </a:rPr>
              <a:t>Illustrative $2.0M pre-seed, only after a paid pilot or buyer LOI.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FD4F42-21FB-4DBB-9569-BAEFF32A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667250" cy="3962400"/>
          </a:xfrm>
          <a:prstGeom xmlns:a="http://schemas.openxmlformats.org/drawingml/2006/main" prst="roundRect">
            <a:avLst>
              <a:gd name="adj" fmla="val 5288"/>
            </a:avLst>
          </a:prstGeom>
          <a:solidFill xmlns:a="http://schemas.openxmlformats.org/drawingml/2006/main">
            <a:srgbClr val="10261B"/>
          </a:solidFill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17C49B-9934-46EA-86AB-C2978594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 i="0">
                <a:solidFill>
                  <a:srgbClr val="C9F3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 i="0">
                <a:solidFill>
                  <a:srgbClr val="C9F36A"/>
                </a:solidFill>
                <a:latin typeface="Helvetica Neue"/>
                <a:ea typeface="Helvetica Neue"/>
                <a:cs typeface="Helvetica Neue"/>
              </a:rPr>
              <a:t>$2.0M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4D3246-4FF8-4239-ACB9-D805C85C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18 months of runway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25583A-AB66-4D06-957F-C1B2188C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82C9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>
                <a:solidFill>
                  <a:srgbClr val="82C9FF"/>
                </a:solidFill>
                <a:latin typeface="Courier New"/>
                <a:ea typeface="Courier New"/>
                <a:cs typeface="Courier New"/>
              </a:rPr>
              <a:t>35%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6C0909-73CF-4628-8792-61341F17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337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Platform and data 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EC9990-8D45-4B09-8F5B-7A7CBC21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36385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1D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57B57-B765-47AE-BFEF-47D49385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3183731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2C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8CDB09-E642-44A4-A5E7-82AE5507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rPr>
              <a:t>30%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BED8C4-9E4E-4974-A18C-4D758479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862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Collection pilots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4EE944-EAFE-41A4-A677-BEF0DC9E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36385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1D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713050-C8FC-4A60-8F79-9234FB0A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2728913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F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3F07BD-218B-4CC9-A8B4-840C46DB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rPr>
              <a:t>20%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17E059-7AC7-4303-BBBE-66BDDD68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38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Buyer and partner development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DD10A0-0A8B-4E74-A41B-E97EB8EA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24400"/>
            <a:ext cx="36385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1D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3723C2-0F1B-4482-9676-A8B06D8D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24400"/>
            <a:ext cx="181927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E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E8C5D0-AC46-404C-BDF9-850209C0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911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>
                <a:solidFill>
                  <a:srgbClr val="FFFDF7"/>
                </a:solidFill>
                <a:latin typeface="Courier New"/>
                <a:ea typeface="Courier New"/>
                <a:cs typeface="Courier New"/>
              </a:rPr>
              <a:t>15%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145214-B49B-4A0B-A619-16F95C73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9911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Privacy, security, and legal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F9247C-E07C-4AA8-9A60-FA0BEA9A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76850"/>
            <a:ext cx="36385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1D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373301-5E2F-4BB2-85F9-1499373C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76850"/>
            <a:ext cx="1364456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70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94982F-3EEC-4593-A923-01ECD59D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431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rPr>
              <a:t>MILESTONES BEFORE THE NEXT ROUND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C43184-EF14-4DD7-8DAE-EC3F2431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098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224"/>
          </a:solidFill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2B1588-5B14-41A2-8B0E-64B5B541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57450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defRPr>
            </a:pPr>
            <a:r>
              <a:rPr sz="675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5D9A89-8C9D-4071-BCAF-1DA29CB2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8125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3 paying robotics or embodied-model buyers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15495C-15D4-41E3-AC09-F75F15A3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622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224"/>
          </a:solidFill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E0CFEB-CB80-40D3-B3AD-5A3A2979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09900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defRPr>
            </a:pPr>
            <a:r>
              <a:rPr sz="675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rPr>
              <a:t>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2983B4-223A-45BB-B002-C8D7E782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3370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2 repeatable task specifications with buyer acceptance tests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29A492-20C2-42FA-A697-E1A61AF6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147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224"/>
          </a:solidFill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5641BD-0480-40B3-8304-883E969F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62350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defRPr>
            </a:pPr>
            <a:r>
              <a:rPr sz="675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rPr>
              <a:t>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1BE180-235F-4677-A8BD-7385563F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8615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Mexico quality parity to the United States reference set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883578-485C-4242-B4C6-E43066B6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671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224"/>
          </a:solidFill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581438-230F-43F7-A912-2BEC7C7D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14800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defRPr>
            </a:pPr>
            <a:r>
              <a:rPr sz="675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rPr>
              <a:t>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896534-ED6B-4B3B-A91D-F2A5FF27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3860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Complete rights manifests and auditable deletion workflow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8CBDD2-39C7-4908-94A2-C46E7F85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196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224"/>
          </a:solidFill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3EC00E-5B7A-4A90-A71F-19B2AC0B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67250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defRPr>
            </a:pPr>
            <a:r>
              <a:rPr sz="675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rPr>
              <a:t>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AFE65D-2A82-45C5-9C95-C4B6BE2B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9105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Repeat order, exclusivity premium, or measured model lift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1032E5-D807-4B60-9C37-D4A29675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219700"/>
            <a:ext cx="5276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CB383C-446E-424E-AF3D-9E41D8C5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448300"/>
            <a:ext cx="527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800" b="1" i="0">
                <a:solidFill>
                  <a:srgbClr val="C9F3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C9F36A"/>
                </a:solidFill>
                <a:latin typeface="Helvetica Neue"/>
                <a:ea typeface="Helvetica Neue"/>
                <a:cs typeface="Helvetica Neue"/>
              </a:rPr>
              <a:t>START WITH ONE TASK. PROVE ONE TRACE.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14EC11-DE30-4792-A880-545AA8AC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3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D23EC19-B952-4117-BB71-E2DABC5D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81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675" b="0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Illustrative capital plan. No fundraising outreach or investor commitment is represented.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29D5F59-AC75-4A36-8AC9-5F0037B7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defRPr>
            </a:pPr>
            <a:r>
              <a:rPr sz="675" b="1" i="0">
                <a:solidFill>
                  <a:srgbClr val="93A096"/>
                </a:solidFill>
                <a:latin typeface="Courier New"/>
                <a:ea typeface="Courier New"/>
                <a:cs typeface="Courier New"/>
              </a:rPr>
              <a:t>WORKTRACE / 17</a:t>
            </a:r>
          </a:p>
        </p:txBody>
      </p:sp>
    </p:spTree>
    <p:extLst>
      <p:ext uri="{BB962C8B-B14F-4D97-AF65-F5344CB8AC3E}">
        <p14:creationId xmlns:p14="http://schemas.microsoft.com/office/powerpoint/2010/main" val="16240071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3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32EBE7-B4BB-4F91-A344-02459555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5C7130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5C7130"/>
                </a:solidFill>
                <a:latin typeface="Courier New"/>
                <a:ea typeface="Courier New"/>
                <a:cs typeface="Courier New"/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A01801-2734-4477-B98B-5842B0A4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rPr>
              <a:t>Source book and modeling rules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9B85D-39DA-4D75-A258-1615D343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70220-5E34-47E2-9ABF-DA67A43C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47168"/>
                </a:solidFill>
                <a:latin typeface="Helvetica Neue"/>
                <a:ea typeface="Helvetica Neue"/>
                <a:cs typeface="Helvetica Neue"/>
              </a:rPr>
              <a:t>Links are current through July 17, 2026. Company-reported figures are identified as such.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6E5648-2880-4F18-B98E-BBC03729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257800" cy="3371850"/>
          </a:xfrm>
          <a:prstGeom xmlns:a="http://schemas.openxmlformats.org/drawingml/2006/main" prst="roundRect">
            <a:avLst>
              <a:gd name="adj" fmla="val 452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5D8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CE9E02-51EF-4B89-8313-5C8CBBD3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5C7130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5C7130"/>
                </a:solidFill>
                <a:latin typeface="Courier New"/>
                <a:ea typeface="Courier New"/>
                <a:cs typeface="Courier New"/>
              </a:rPr>
              <a:t>ROBOTICS + COMPETITION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6374A0-6869-4545-A83C-CD15C5A0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468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e4ae09d2c2ab406b"/>
              </a:rPr>
              <a:t>1. IFR 2025 preliminary installations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AA43EE-3002-4B73-B9BE-6538EC0F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86025"/>
            <a:ext cx="468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e1905949d0e840f9"/>
              </a:rPr>
              <a:t>2. IFR World Robotics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ECFBEB-0F5E-4596-AB1A-B8B4C9AE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468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22206b61d2fc4ad2"/>
              </a:rPr>
              <a:t>3. IFR Service Robots 2025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15E14A-AC51-4300-83F8-DB61161B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76575"/>
            <a:ext cx="468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c60eb853c43e4ccd"/>
              </a:rPr>
              <a:t>4. NVIDIA GR00T 1.7 data workflow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F31887-14CB-4ED7-9743-DDB62142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468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41b9ecc3251d4ec9"/>
              </a:rPr>
              <a:t>5. Google DeepMind Open X-Embodiment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5E8AD7-ACB1-4C65-9598-91FC9D7C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67125"/>
            <a:ext cx="468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af613295afc0453c"/>
              </a:rPr>
              <a:t>6. OECD manipulation capability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021FD9-D9A9-4251-9CF7-2C17B071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468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dfc34279afc34b8c"/>
              </a:rPr>
              <a:t>7. Capgemini physical AI survey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998924-0AE2-40E5-8DA9-9DD38AD4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57675"/>
            <a:ext cx="468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136bf17e1b414029"/>
              </a:rPr>
              <a:t>8. MoVo public pricing and company claims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BFEA0F-8C2A-4DDD-B1E2-E41C890F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468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c9178b897fb04f9d"/>
              </a:rPr>
              <a:t>9. Poseidon company announcement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AE5DED-E04C-4531-B5B7-5AA7AEEE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57350"/>
            <a:ext cx="5257800" cy="3371850"/>
          </a:xfrm>
          <a:prstGeom xmlns:a="http://schemas.openxmlformats.org/drawingml/2006/main" prst="roundRect">
            <a:avLst>
              <a:gd name="adj" fmla="val 452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5D8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F5BCAB-8AFF-48B0-B5E2-9D8CB2AF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478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5C7130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5C7130"/>
                </a:solidFill>
                <a:latin typeface="Courier New"/>
                <a:ea typeface="Courier New"/>
                <a:cs typeface="Courier New"/>
              </a:rPr>
              <a:t>COUNTRY INPUTS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40CF54-ACD8-48A1-9710-FF1CF5AD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90750"/>
            <a:ext cx="468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f4570ba694814f60"/>
              </a:rPr>
              <a:t>10. Mexico wage and labor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991511-070F-47F3-BE5C-27011E2C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86025"/>
            <a:ext cx="468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b0c0911890534bde"/>
              </a:rPr>
              <a:t>11. Mexico official FX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443144-7D1F-477B-B553-E6EB342D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8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46497697af2f48d0"/>
              </a:rPr>
              <a:t>12. Mexico private-sector privacy law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C37394-756D-4620-BB25-FA76925F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76575"/>
            <a:ext cx="468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a3bd252c504843cd"/>
              </a:rPr>
              <a:t>13. Colombia wage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F7285C-17E6-4C1D-B117-171FD908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71850"/>
            <a:ext cx="468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c5c3cfea9f9d47f6"/>
              </a:rPr>
              <a:t>14. Colombia official FX 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DA4E24-A7CA-475D-A16E-76555887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67125"/>
            <a:ext cx="468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39206ac785ab441a"/>
              </a:rPr>
              <a:t>15. Vietnam 2026 wage floors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30F4D0-BA03-44CA-A44C-4E71C979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62400"/>
            <a:ext cx="468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11741be28773474f"/>
              </a:rPr>
              <a:t>16. India PLFS 2025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1376B0-6453-46FE-8FAD-61FD483D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57675"/>
            <a:ext cx="468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7ce5feca26da4003"/>
              </a:rPr>
              <a:t>17. Philippines NCR wage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746170-A90A-49B6-868A-1B38087D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52950"/>
            <a:ext cx="468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07110D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984040d031d94f7e"/>
              </a:rPr>
              <a:t>18. Philippines NPC body-camera guidance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20FFC2-E5FE-42D5-B05C-89FE8183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1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5CC1E1-F0EB-43C4-86AB-9EA12905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292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C9F36A"/>
                </a:solidFill>
                <a:latin typeface="Courier New"/>
                <a:ea typeface="Courier New"/>
                <a:cs typeface="Courier New"/>
              </a:rPr>
              <a:t>MODELING RULES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6C8E05-5EBD-4D4F-9496-18114BED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91150"/>
            <a:ext cx="868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FFFDF7"/>
                </a:solidFill>
                <a:latin typeface="Helvetica Neue"/>
                <a:ea typeface="Helvetica Neue"/>
                <a:cs typeface="Helvetica Neue"/>
              </a:rPr>
              <a:t>Facts and assumptions are separated. Accepted-hour COGS includes rejection yield. Workers are paid for scheduled time. Country profit excludes central overhead. Financial cases are planning scenarios, not guidance.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1B0548-4091-4290-AA44-8E15E719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8C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468B76-542D-46D6-B9A9-0AAC42D2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81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675" b="0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WorkTrace investor prototype, July 17, 2026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65617B-DD20-4890-A63E-57805374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defRPr>
            </a:pPr>
            <a:r>
              <a:rPr sz="675" b="1" i="0">
                <a:solidFill>
                  <a:srgbClr val="647168"/>
                </a:solidFill>
                <a:latin typeface="Courier New"/>
                <a:ea typeface="Courier New"/>
                <a:cs typeface="Courier New"/>
              </a:rPr>
              <a:t>WORKTRACE / 18</a:t>
            </a:r>
          </a:p>
        </p:txBody>
      </p:sp>
    </p:spTree>
    <p:extLst>
      <p:ext uri="{BB962C8B-B14F-4D97-AF65-F5344CB8AC3E}">
        <p14:creationId xmlns:p14="http://schemas.microsoft.com/office/powerpoint/2010/main" val="904586820"/>
      </p:ext>
    </p:extLst>
  </p:cSld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C9F36A"/>
                </a:solidFill>
                <a:latin typeface="Courier New"/>
              </a:rPr>
              <a:t>BUILT, NOT PROMISED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FFFDF7"/>
                </a:solidFill>
                <a:latin typeface="Helvetica Neue"/>
              </a:rPr>
              <a:t>The prototype already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11480"/>
            <a:ext cx="502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93A096"/>
                </a:solidFill>
                <a:latin typeface="Courier New"/>
              </a:rPr>
              <a:t>03A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93A096"/>
                </a:solidFill>
                <a:latin typeface="Helvetica Neue"/>
              </a:rPr>
              <a:t>Working software, purchased hardware, and a narrated film, all live as of July 17,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C9F36A"/>
                </a:solidFill>
                <a:latin typeface="Courier New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38528"/>
            <a:ext cx="52120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FFFDF7"/>
                </a:solidFill>
                <a:latin typeface="Helvetica Neue"/>
              </a:rPr>
              <a:t>Live capture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40279"/>
            <a:ext cx="52120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93A096"/>
                </a:solidFill>
                <a:latin typeface="Helvetica Neue"/>
              </a:rPr>
              <a:t>Browser app with MediaPipe hand tracking, task labeling, QA stats, episode export. Deployed on Cloudflare.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249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C9F36A"/>
                </a:solidFill>
                <a:latin typeface="Courier New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97480"/>
            <a:ext cx="52120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FFFDF7"/>
                </a:solidFill>
                <a:latin typeface="Helvetica Neue"/>
              </a:rPr>
              <a:t>Cinematic landing 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999232"/>
            <a:ext cx="52120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93A096"/>
                </a:solidFill>
                <a:latin typeface="Helvetica Neue"/>
              </a:rPr>
              <a:t>WebGL particle experience plus the interactive WorkTrace trace console.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838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C9F36A"/>
                </a:solidFill>
                <a:latin typeface="Courier New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456432"/>
            <a:ext cx="52120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FFFDF7"/>
                </a:solidFill>
                <a:latin typeface="Helvetica Neue"/>
              </a:rPr>
              <a:t>Offline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758184"/>
            <a:ext cx="52120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93A096"/>
                </a:solidFill>
                <a:latin typeface="Helvetica Neue"/>
              </a:rPr>
              <a:t>Hand tracking to parquet, task segmentation, QA acceptance gate, LeRobot-style export, CI fixture.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428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C9F36A"/>
                </a:solidFill>
                <a:latin typeface="Courier New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215383"/>
            <a:ext cx="52120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FFFDF7"/>
                </a:solidFill>
                <a:latin typeface="Helvetica Neue"/>
              </a:rPr>
              <a:t>Ingest backend + field 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517136"/>
            <a:ext cx="52120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93A096"/>
                </a:solidFill>
                <a:latin typeface="Helvetica Neue"/>
              </a:rPr>
              <a:t>FastAPI presigned R2 uploads with manifest queue; Flutter capture app reference.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0176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C9F36A"/>
                </a:solidFill>
                <a:latin typeface="Courier New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974336"/>
            <a:ext cx="52120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FFFDF7"/>
                </a:solidFill>
                <a:latin typeface="Helvetica Neue"/>
              </a:rPr>
              <a:t>Bench hardware in hand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276088"/>
            <a:ext cx="52120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93A096"/>
                </a:solidFill>
                <a:latin typeface="Helvetica Neue"/>
              </a:rPr>
              <a:t>Cased ELP 1080P UVC camera, USB-C OTG, hat brim clip. $45 to $58 core kit.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7607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C9F36A"/>
                </a:solidFill>
                <a:latin typeface="Courier New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733288"/>
            <a:ext cx="52120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FFFDF7"/>
                </a:solidFill>
                <a:latin typeface="Helvetica Neue"/>
              </a:rPr>
              <a:t>Narrated explainer film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6035040"/>
            <a:ext cx="52120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93A096"/>
                </a:solidFill>
                <a:latin typeface="Helvetica Neue"/>
              </a:rPr>
              <a:t>103 seconds, real POV footage with live tracking overlays.</a:t>
            </a:r>
          </a:p>
        </p:txBody>
      </p:sp>
      <p:pic>
        <p:nvPicPr>
          <p:cNvPr id="24" name="Picture 23" descr="wt-po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783080"/>
            <a:ext cx="4892040" cy="275177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720840" y="4644580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93A096"/>
                </a:solidFill>
                <a:latin typeface="Courier New"/>
              </a:rPr>
              <a:t>Real POV capture with live 21-landmark tracking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2026-07-18T01:37:29.9720000Z</dcterms:created>
  <dcterms:modified xsi:type="dcterms:W3CDTF">2026-07-18T01:37:29.9720000Z</dcterms:modified>
</coreProperties>
</file>